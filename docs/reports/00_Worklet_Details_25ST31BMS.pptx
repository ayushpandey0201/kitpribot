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E4094"/>
    <a:srgbClr val="BB1C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5332" autoAdjust="0"/>
  </p:normalViewPr>
  <p:slideViewPr>
    <p:cSldViewPr snapToGrid="0">
      <p:cViewPr>
        <p:scale>
          <a:sx n="125" d="100"/>
          <a:sy n="125" d="100"/>
        </p:scale>
        <p:origin x="1251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D80F9-D096-41A5-95D8-0E784546C0B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3B71A-2468-47CC-84B3-BEC292667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9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3B71A-2468-47CC-84B3-BEC2926675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0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2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9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59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8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92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8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4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8BF6C-2913-460D-A8D8-6C383BCC9F4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9572F-54D3-440D-A8BF-9D13F4702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738052"/>
            <a:ext cx="5537712" cy="61770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Rectangle 3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3519" y="133192"/>
            <a:ext cx="1059902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Area – AI, IoT, Smart Home  </a:t>
            </a:r>
            <a:r>
              <a:rPr lang="en-IN" sz="2000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| </a:t>
            </a:r>
            <a:r>
              <a:rPr lang="en-IN" sz="2000" b="0" i="0" dirty="0">
                <a:solidFill>
                  <a:srgbClr val="0070C0"/>
                </a:solidFill>
                <a:effectLst/>
                <a:latin typeface="SamsungOne 600C" panose="020B0706030303020204"/>
              </a:rPr>
              <a:t>Deep Learning Model to Classify Kitchen Sounds to Cooking</a:t>
            </a:r>
            <a:endParaRPr lang="en-US" sz="2000" dirty="0">
              <a:solidFill>
                <a:srgbClr val="0000FF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546" y="18834"/>
            <a:ext cx="1289454" cy="3808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6071714" y="4511865"/>
            <a:ext cx="5942432" cy="229949"/>
            <a:chOff x="5995593" y="5674571"/>
            <a:chExt cx="5324340" cy="150499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6002866" y="5753103"/>
              <a:ext cx="531706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5995593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7690533" y="5681136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10000956" y="5674571"/>
              <a:ext cx="144000" cy="143934"/>
            </a:xfrm>
            <a:prstGeom prst="ellipse">
              <a:avLst/>
            </a:prstGeom>
            <a:solidFill>
              <a:srgbClr val="92D05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amsungOne 600C" panose="020B0706030303020204" pitchFamily="34" charset="0"/>
                <a:ea typeface="SamsungOne 600C" panose="020B0706030303020204" pitchFamily="34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-1361" y="665561"/>
            <a:ext cx="551925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ea typeface="SamsungOne 600C" panose="020B0706030303020204" pitchFamily="34" charset="0"/>
              </a:rPr>
              <a:t>Problem Statement</a:t>
            </a:r>
            <a:endParaRPr lang="en-US" sz="1100" b="1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endParaRPr lang="en-IN" sz="500" dirty="0">
              <a:solidFill>
                <a:schemeClr val="bg1"/>
              </a:solidFill>
              <a:ea typeface="SamsungOne 600C" panose="020B0706030303020204" pitchFamily="34" charset="0"/>
            </a:endParaRP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50" dirty="0">
                <a:solidFill>
                  <a:schemeClr val="bg1"/>
                </a:solidFill>
                <a:ea typeface="SamsungOne 600C" panose="020B0706030303020204" pitchFamily="34" charset="0"/>
              </a:rPr>
              <a:t>The primary goal is to provide users with insights into their cooking habits and improve the overall smart home experience.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50" dirty="0">
                <a:solidFill>
                  <a:schemeClr val="bg1"/>
                </a:solidFill>
                <a:ea typeface="SamsungOne 600C" panose="020B0706030303020204" pitchFamily="34" charset="0"/>
              </a:rPr>
              <a:t>Samsung’s SmartThings Smart Home Platform serves millions of users globally, targeting 1 billion users by 2030.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50" dirty="0">
                <a:solidFill>
                  <a:schemeClr val="bg1"/>
                </a:solidFill>
                <a:ea typeface="SamsungOne 600C" panose="020B0706030303020204" pitchFamily="34" charset="0"/>
              </a:rPr>
              <a:t>While kitchen-related smart devices (e.g., refrigerators, water purifiers) are widely integrated, critical cooking devices like cooktops may be absent. </a:t>
            </a:r>
          </a:p>
          <a:p>
            <a:pPr marL="177800" indent="-177800">
              <a:buFont typeface="Arial" panose="020B0604020202020204" pitchFamily="34" charset="0"/>
              <a:buChar char="•"/>
            </a:pPr>
            <a:r>
              <a:rPr lang="en-IN" sz="1150" dirty="0">
                <a:solidFill>
                  <a:schemeClr val="bg1"/>
                </a:solidFill>
                <a:ea typeface="SamsungOne 600C" panose="020B0706030303020204" pitchFamily="34" charset="0"/>
              </a:rPr>
              <a:t>To address this gap, a deep learning model to analyse raw kitchen sound data is essential. The model will analyse ambient audio from kitchen/surrounding areas to detect cooking devices and finally categorizing if the sound is related to Cooking activity or Non-Cooking activity.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0125" y="5994717"/>
            <a:ext cx="177576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>
                <a:solidFill>
                  <a:schemeClr val="bg1"/>
                </a:solidFill>
              </a:rPr>
              <a:t>Amit Yadav</a:t>
            </a:r>
          </a:p>
          <a:p>
            <a:pPr algn="ctr"/>
            <a:r>
              <a:rPr lang="en-IN" sz="900" dirty="0">
                <a:solidFill>
                  <a:schemeClr val="bg1"/>
                </a:solidFill>
              </a:rPr>
              <a:t>Lead Engineer</a:t>
            </a:r>
          </a:p>
          <a:p>
            <a:pPr algn="ctr"/>
            <a:r>
              <a:rPr lang="en-IN" sz="900" dirty="0">
                <a:solidFill>
                  <a:schemeClr val="bg1"/>
                </a:solidFill>
              </a:rPr>
              <a:t>amit.yad@samsung.com</a:t>
            </a:r>
          </a:p>
          <a:p>
            <a:pPr algn="ctr"/>
            <a:r>
              <a:rPr lang="en-IN" sz="900" dirty="0">
                <a:solidFill>
                  <a:schemeClr val="bg1"/>
                </a:solidFill>
              </a:rPr>
              <a:t>9582843927</a:t>
            </a:r>
          </a:p>
          <a:p>
            <a:pPr algn="ctr"/>
            <a:endParaRPr lang="en-US" sz="900" dirty="0">
              <a:solidFill>
                <a:schemeClr val="bg1"/>
              </a:solidFill>
              <a:ea typeface="SamsungOne 600C" panose="020B0706030303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37711" y="4780508"/>
            <a:ext cx="177576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ea typeface="SamsungOne 600C" panose="020B0706030303020204" pitchFamily="34" charset="0"/>
              </a:rPr>
              <a:t>Kick Off &lt;1</a:t>
            </a:r>
            <a:r>
              <a:rPr lang="en-IN" sz="1200" b="1" baseline="30000" dirty="0">
                <a:ea typeface="SamsungOne 600C" panose="020B0706030303020204" pitchFamily="34" charset="0"/>
              </a:rPr>
              <a:t> </a:t>
            </a:r>
            <a:r>
              <a:rPr lang="en-IN" sz="1200" b="1" dirty="0">
                <a:ea typeface="SamsungOne 600C" panose="020B0706030303020204" pitchFamily="34" charset="0"/>
              </a:rPr>
              <a:t> - 2 Months&gt;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ea typeface="SamsungOne 600C" panose="020B0706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Find a suitable open source dataset/ generate synthetic dataset that </a:t>
            </a:r>
            <a:r>
              <a:rPr lang="en-IN" sz="900" dirty="0">
                <a:solidFill>
                  <a:srgbClr val="1F2328"/>
                </a:solidFill>
                <a:latin typeface="Noto Sans KR"/>
              </a:rPr>
              <a:t>s</a:t>
            </a:r>
            <a:r>
              <a:rPr lang="en-IN" sz="900" b="0" i="0" dirty="0">
                <a:solidFill>
                  <a:srgbClr val="1F2328"/>
                </a:solidFill>
                <a:effectLst/>
                <a:latin typeface="Noto Sans KR"/>
              </a:rPr>
              <a:t>imulate kitchen sounds (e.g., use of cooktops, ovens) and non-cooking noises (e.g., dishwashers, conversations).</a:t>
            </a:r>
            <a:endParaRPr lang="en-IN" sz="900" dirty="0">
              <a:solidFill>
                <a:srgbClr val="24292F"/>
              </a:solidFill>
              <a:latin typeface="Noto Sans KR"/>
            </a:endParaRPr>
          </a:p>
          <a:p>
            <a:pPr algn="l"/>
            <a:endParaRPr lang="en-IN" sz="900" b="0" i="0" dirty="0">
              <a:solidFill>
                <a:srgbClr val="24292F"/>
              </a:solidFill>
              <a:effectLst/>
              <a:latin typeface="Noto Sans KR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Audio signal processing &amp; augmentation to prepare it for model training.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IN" sz="900" dirty="0">
              <a:solidFill>
                <a:srgbClr val="24292F"/>
              </a:solidFill>
              <a:latin typeface="Noto Sans K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70415" y="4786211"/>
            <a:ext cx="1907238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ea typeface="SamsungOne 600C" panose="020B0706030303020204" pitchFamily="34" charset="0"/>
              </a:rPr>
              <a:t>Milestone 1 &lt;3rd Month&gt;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ea typeface="SamsungOne 600C" panose="020B0706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Design and implement a suitable deep learning architecture.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0" i="0" dirty="0">
              <a:solidFill>
                <a:srgbClr val="24292F"/>
              </a:solidFill>
              <a:effectLst/>
              <a:latin typeface="Noto Sans K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Train the model using dataset preprocessed.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0" i="0" dirty="0">
              <a:solidFill>
                <a:srgbClr val="24292F"/>
              </a:solidFill>
              <a:effectLst/>
              <a:latin typeface="Noto Sans K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Evaluate the model’s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0" i="0" dirty="0">
              <a:solidFill>
                <a:srgbClr val="24292F"/>
              </a:solidFill>
              <a:effectLst/>
              <a:latin typeface="Noto Sans K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Optimize the model to improve its predictions.</a:t>
            </a:r>
          </a:p>
          <a:p>
            <a:endParaRPr lang="en-IN" sz="900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44564" y="4777756"/>
            <a:ext cx="2947436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ea typeface="SamsungOne 600C" panose="020B0706030303020204" pitchFamily="34" charset="0"/>
              </a:rPr>
              <a:t>Closure &lt;4th Month&gt;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ea typeface="SamsungOne 600C" panose="020B0706030303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Document the entire development process, including data generation (if done), model architecture, training procedures, and evaluation results.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IN" sz="900" b="0" i="0" dirty="0">
              <a:solidFill>
                <a:srgbClr val="24292F"/>
              </a:solidFill>
              <a:effectLst/>
              <a:latin typeface="Noto Sans K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b="0" i="0" dirty="0">
                <a:solidFill>
                  <a:srgbClr val="24292F"/>
                </a:solidFill>
                <a:effectLst/>
                <a:latin typeface="Noto Sans KR"/>
              </a:rPr>
              <a:t>Prepare a comprehensive report detailing the model’s capabilities, limitations, and potential areas for improvement.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b="0" i="0" dirty="0">
              <a:solidFill>
                <a:srgbClr val="24292F"/>
              </a:solidFill>
              <a:effectLst/>
              <a:latin typeface="Noto Sans K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Noto Sans KR"/>
                <a:ea typeface="SamsungOne 600C" panose="020B0706030303020204" pitchFamily="34" charset="0"/>
              </a:rPr>
              <a:t>Release the code and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900" dirty="0">
              <a:latin typeface="Noto Sans KR"/>
              <a:ea typeface="SamsungOne 600C" panose="020B0706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Noto Sans KR"/>
                <a:ea typeface="SamsungOne 600C" panose="020B0706030303020204" pitchFamily="34" charset="0"/>
              </a:rPr>
              <a:t>Work-let closure</a:t>
            </a:r>
          </a:p>
          <a:p>
            <a:endParaRPr lang="en-IN" sz="900" dirty="0">
              <a:ea typeface="SamsungOne 600C" panose="020B0706030303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84112" y="785782"/>
            <a:ext cx="624620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>
                <a:solidFill>
                  <a:srgbClr val="00B050"/>
                </a:solidFill>
                <a:ea typeface="SamsungOne 600C" panose="020B0706030303020204" pitchFamily="34" charset="0"/>
              </a:rPr>
              <a:t>Expectations</a:t>
            </a:r>
          </a:p>
          <a:p>
            <a:pPr algn="just"/>
            <a:endParaRPr lang="en-IN" sz="1600" b="1" dirty="0">
              <a:solidFill>
                <a:srgbClr val="00B050"/>
              </a:solidFill>
              <a:ea typeface="SamsungOne 600C" panose="020B0706030303020204" pitchFamily="34" charset="0"/>
            </a:endParaRPr>
          </a:p>
          <a:p>
            <a:pPr marL="285750" indent="-285750">
              <a:buFont typeface="+mj-lt"/>
              <a:buAutoNum type="arabicPeriod"/>
            </a:pPr>
            <a:r>
              <a:rPr lang="en-IN" sz="1200" b="0" i="0" dirty="0">
                <a:solidFill>
                  <a:srgbClr val="24292F"/>
                </a:solidFill>
                <a:effectLst/>
              </a:rPr>
              <a:t>Develop a deep learning model that categorizes raw sound data into Cooking Activity or Non-Cooking activity.</a:t>
            </a:r>
          </a:p>
          <a:p>
            <a:pPr marL="285750" indent="-285750">
              <a:buFont typeface="+mj-lt"/>
              <a:buAutoNum type="arabicPeriod"/>
            </a:pPr>
            <a:r>
              <a:rPr lang="en-IN" sz="1200" b="0" i="0" dirty="0">
                <a:solidFill>
                  <a:srgbClr val="24292F"/>
                </a:solidFill>
                <a:effectLst/>
              </a:rPr>
              <a:t>The model must achieve high precision</a:t>
            </a:r>
            <a:r>
              <a:rPr lang="en-IN" sz="1200" dirty="0">
                <a:solidFill>
                  <a:srgbClr val="24292F"/>
                </a:solidFill>
              </a:rPr>
              <a:t> &amp; </a:t>
            </a:r>
            <a:r>
              <a:rPr lang="en-IN" sz="1200" b="0" i="0" dirty="0">
                <a:solidFill>
                  <a:srgbClr val="24292F"/>
                </a:solidFill>
                <a:effectLst/>
              </a:rPr>
              <a:t>recall.</a:t>
            </a:r>
          </a:p>
          <a:p>
            <a:pPr marL="285750" indent="-285750">
              <a:buFont typeface="+mj-lt"/>
              <a:buAutoNum type="arabicPeriod"/>
            </a:pPr>
            <a:r>
              <a:rPr lang="en-IN" sz="1200" b="0" i="0" dirty="0">
                <a:solidFill>
                  <a:srgbClr val="24292F"/>
                </a:solidFill>
                <a:effectLst/>
              </a:rPr>
              <a:t>Model can be trained on open source datasets, real generated dataset or high quality and </a:t>
            </a:r>
            <a:r>
              <a:rPr lang="en-IN" sz="1200" dirty="0">
                <a:solidFill>
                  <a:srgbClr val="24292F"/>
                </a:solidFill>
              </a:rPr>
              <a:t>synthetic dataset</a:t>
            </a:r>
            <a:r>
              <a:rPr lang="en-IN" sz="1200" b="0" i="0" dirty="0">
                <a:solidFill>
                  <a:srgbClr val="24292F"/>
                </a:solidFill>
                <a:effectLst/>
              </a:rPr>
              <a:t>.</a:t>
            </a:r>
          </a:p>
          <a:p>
            <a:pPr marL="285750" indent="-285750">
              <a:buFont typeface="+mj-lt"/>
              <a:buAutoNum type="arabicPeriod"/>
            </a:pPr>
            <a:r>
              <a:rPr lang="en-IN" sz="1200" b="0" i="0" dirty="0">
                <a:solidFill>
                  <a:srgbClr val="24292F"/>
                </a:solidFill>
                <a:effectLst/>
              </a:rPr>
              <a:t>Operate reliably in diverse acoustic environments (background noise, overlapping sounds).</a:t>
            </a:r>
          </a:p>
          <a:p>
            <a:pPr algn="just"/>
            <a:endParaRPr lang="en-IN" sz="1200" dirty="0">
              <a:ea typeface="SamsungOne 600C" panose="020B0706030303020204" pitchFamily="34" charset="0"/>
            </a:endParaRPr>
          </a:p>
          <a:p>
            <a:pPr marL="177800" indent="-177800" algn="just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tx1">
                  <a:lumMod val="50000"/>
                  <a:lumOff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lvl="0" algn="just"/>
            <a:r>
              <a:rPr lang="en-IN" sz="1600" b="1" dirty="0">
                <a:solidFill>
                  <a:srgbClr val="00B050"/>
                </a:solidFill>
                <a:ea typeface="SamsungOne 600C" panose="020B0706030303020204" pitchFamily="34" charset="0"/>
              </a:rPr>
              <a:t>Training/ Pre-requisites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endParaRPr lang="en-IN" sz="1200" dirty="0">
              <a:ea typeface="SamsungOne 600C" panose="020B0706030303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lang="en-IN" sz="1200" dirty="0">
                <a:ea typeface="SamsungOne 600C" panose="020B0706030303020204" pitchFamily="34" charset="0"/>
              </a:rPr>
              <a:t>Good understanding of audio signal processing (e.g., spectrogram analysis, feature extraction).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lang="en-IN" sz="1200" dirty="0">
                <a:ea typeface="SamsungOne 600C" panose="020B0706030303020204" pitchFamily="34" charset="0"/>
              </a:rPr>
              <a:t>Proficiency in deep learning frameworks (TensorFlow/</a:t>
            </a:r>
            <a:r>
              <a:rPr lang="en-IN" sz="1200" dirty="0" err="1">
                <a:ea typeface="SamsungOne 600C" panose="020B0706030303020204" pitchFamily="34" charset="0"/>
              </a:rPr>
              <a:t>PyTorch</a:t>
            </a:r>
            <a:r>
              <a:rPr lang="en-IN" sz="1200" dirty="0">
                <a:ea typeface="SamsungOne 600C" panose="020B0706030303020204" pitchFamily="34" charset="0"/>
              </a:rPr>
              <a:t>) for audio classification model implementation.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lang="en-IN" sz="1200" dirty="0">
                <a:ea typeface="SamsungOne 600C" panose="020B0706030303020204" pitchFamily="34" charset="0"/>
              </a:rPr>
              <a:t>Experience with Python libraries (</a:t>
            </a:r>
            <a:r>
              <a:rPr lang="en-IN" sz="1200" b="0" i="0" dirty="0">
                <a:solidFill>
                  <a:srgbClr val="24292F"/>
                </a:solidFill>
                <a:effectLst/>
              </a:rPr>
              <a:t>e.g., </a:t>
            </a:r>
            <a:r>
              <a:rPr lang="en-IN" sz="1200" dirty="0" err="1">
                <a:ea typeface="SamsungOne 600C" panose="020B0706030303020204" pitchFamily="34" charset="0"/>
              </a:rPr>
              <a:t>Librosa</a:t>
            </a:r>
            <a:r>
              <a:rPr lang="en-IN" sz="1200" dirty="0">
                <a:ea typeface="SamsungOne 600C" panose="020B0706030303020204" pitchFamily="34" charset="0"/>
              </a:rPr>
              <a:t>, Pandas, NumPy) for audio pre-processing.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lang="en-IN" sz="1200" dirty="0">
                <a:ea typeface="SamsungOne 600C" panose="020B0706030303020204" pitchFamily="34" charset="0"/>
              </a:rPr>
              <a:t>Ability to create synthetic sound datasets if needed using Large Models.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endParaRPr lang="en-IN" sz="1200" dirty="0">
              <a:ea typeface="SamsungOne 600C" panose="020B0706030303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1693" y="473026"/>
            <a:ext cx="5074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u="sng" dirty="0">
                <a:ea typeface="SamsungOne 600C" panose="020B0706030303020204" pitchFamily="34" charset="0"/>
              </a:rPr>
              <a:t>Work-let expected duration – </a:t>
            </a:r>
            <a:r>
              <a:rPr lang="en-US" sz="1600" b="1" u="sng" dirty="0">
                <a:solidFill>
                  <a:srgbClr val="0000FF"/>
                </a:solidFill>
                <a:ea typeface="SamsungOne 600C" panose="020B0706030303020204" pitchFamily="34" charset="0"/>
              </a:rPr>
              <a:t>4 months </a:t>
            </a:r>
            <a:r>
              <a:rPr lang="en-US" sz="1600" b="1" u="sng" dirty="0">
                <a:ea typeface="SamsungOne 600C" panose="020B0706030303020204" pitchFamily="34" charset="0"/>
              </a:rPr>
              <a:t>with </a:t>
            </a:r>
            <a:r>
              <a:rPr lang="en-US" sz="1600" b="1" u="sng" dirty="0">
                <a:solidFill>
                  <a:srgbClr val="0000FF"/>
                </a:solidFill>
                <a:ea typeface="SamsungOne 600C" panose="020B0706030303020204" pitchFamily="34" charset="0"/>
              </a:rPr>
              <a:t>3-4 Students</a:t>
            </a:r>
          </a:p>
          <a:p>
            <a:pPr algn="r"/>
            <a:r>
              <a:rPr lang="en-US" sz="1600" b="1" u="sng" dirty="0">
                <a:solidFill>
                  <a:srgbClr val="0000FF"/>
                </a:solidFill>
                <a:ea typeface="SamsungOne 600C" panose="020B0706030303020204" pitchFamily="34" charset="0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22" y="5997614"/>
            <a:ext cx="20219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 dirty="0" err="1">
                <a:solidFill>
                  <a:schemeClr val="bg1"/>
                </a:solidFill>
                <a:ea typeface="SamsungOne 600C" panose="020B0706030303020204" pitchFamily="34" charset="0"/>
              </a:rPr>
              <a:t>Manbir</a:t>
            </a:r>
            <a:r>
              <a:rPr lang="en-IN" sz="900" dirty="0">
                <a:solidFill>
                  <a:schemeClr val="bg1"/>
                </a:solidFill>
                <a:ea typeface="SamsungOne 600C" panose="020B0706030303020204" pitchFamily="34" charset="0"/>
              </a:rPr>
              <a:t> Singh </a:t>
            </a:r>
            <a:r>
              <a:rPr lang="en-IN" sz="900" dirty="0" err="1">
                <a:solidFill>
                  <a:schemeClr val="bg1"/>
                </a:solidFill>
                <a:ea typeface="SamsungOne 600C" panose="020B0706030303020204" pitchFamily="34" charset="0"/>
              </a:rPr>
              <a:t>Soni</a:t>
            </a:r>
            <a:endParaRPr lang="en-IN" sz="900" dirty="0">
              <a:solidFill>
                <a:schemeClr val="bg1"/>
              </a:solidFill>
              <a:ea typeface="SamsungOne 600C" panose="020B0706030303020204" pitchFamily="34" charset="0"/>
            </a:endParaRPr>
          </a:p>
          <a:p>
            <a:pPr algn="ctr"/>
            <a:r>
              <a:rPr lang="en-IN" sz="900" dirty="0">
                <a:solidFill>
                  <a:schemeClr val="bg1"/>
                </a:solidFill>
                <a:ea typeface="SamsungOne 600C" panose="020B0706030303020204" pitchFamily="34" charset="0"/>
              </a:rPr>
              <a:t>Senior Chief Engineer,</a:t>
            </a:r>
          </a:p>
          <a:p>
            <a:pPr algn="ctr"/>
            <a:r>
              <a:rPr lang="en-IN" sz="900" dirty="0">
                <a:solidFill>
                  <a:schemeClr val="bg1"/>
                </a:solidFill>
                <a:ea typeface="SamsungOne 600C" panose="020B0706030303020204" pitchFamily="34" charset="0"/>
              </a:rPr>
              <a:t>manbir.soni@samsung.com</a:t>
            </a:r>
          </a:p>
          <a:p>
            <a:pPr algn="ctr"/>
            <a:r>
              <a:rPr lang="en-IN" sz="900" dirty="0">
                <a:solidFill>
                  <a:schemeClr val="bg1"/>
                </a:solidFill>
                <a:ea typeface="SamsungOne 600C" panose="020B0706030303020204" pitchFamily="34" charset="0"/>
              </a:rPr>
              <a:t>9686642020</a:t>
            </a:r>
          </a:p>
          <a:p>
            <a:pPr algn="ctr"/>
            <a:endParaRPr lang="en-US" sz="900" dirty="0">
              <a:solidFill>
                <a:schemeClr val="bg1"/>
              </a:solidFill>
              <a:ea typeface="SamsungOne 600C" panose="020B0706030303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E96FEEA-D2A8-41A7-85BB-0E40FDFE9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304" y="3215173"/>
            <a:ext cx="1736358" cy="83924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0CC1380-491E-47D6-9949-CED4E7564D2F}"/>
              </a:ext>
            </a:extLst>
          </p:cNvPr>
          <p:cNvSpPr txBox="1"/>
          <p:nvPr/>
        </p:nvSpPr>
        <p:spPr>
          <a:xfrm>
            <a:off x="3829187" y="3358277"/>
            <a:ext cx="1558847" cy="5539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Output Category:</a:t>
            </a:r>
          </a:p>
          <a:p>
            <a:pPr algn="ctr"/>
            <a:r>
              <a:rPr lang="en-IN" sz="1000" dirty="0">
                <a:solidFill>
                  <a:schemeClr val="bg1"/>
                </a:solidFill>
              </a:rPr>
              <a:t>Cooking or Not-Cooking</a:t>
            </a:r>
          </a:p>
          <a:p>
            <a:pPr algn="ctr"/>
            <a:r>
              <a:rPr lang="en-IN" sz="1000" dirty="0">
                <a:solidFill>
                  <a:schemeClr val="bg1"/>
                </a:solidFill>
              </a:rPr>
              <a:t>(Binary Classification)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2274B5-8DE2-4384-A4A1-8B5C4CFA66A0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1435779" y="3634793"/>
            <a:ext cx="328525" cy="48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A7B3FB4-4D49-4768-B6BF-8CE512D000CC}"/>
              </a:ext>
            </a:extLst>
          </p:cNvPr>
          <p:cNvCxnSpPr>
            <a:cxnSpLocks/>
          </p:cNvCxnSpPr>
          <p:nvPr/>
        </p:nvCxnSpPr>
        <p:spPr>
          <a:xfrm>
            <a:off x="3502897" y="3628770"/>
            <a:ext cx="326290" cy="602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5DBDA6D7-7F34-43EF-A47C-390FA1315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20" y="4547807"/>
            <a:ext cx="1092572" cy="13742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A9E832-3769-4850-8058-4AE169739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054" y="4547808"/>
            <a:ext cx="1145328" cy="136845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B9C1EC0-0F2B-4143-867A-35D2486B9ECE}"/>
              </a:ext>
            </a:extLst>
          </p:cNvPr>
          <p:cNvSpPr txBox="1"/>
          <p:nvPr/>
        </p:nvSpPr>
        <p:spPr>
          <a:xfrm>
            <a:off x="3544888" y="5991820"/>
            <a:ext cx="1775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900" dirty="0">
                <a:solidFill>
                  <a:schemeClr val="bg1"/>
                </a:solidFill>
              </a:rPr>
              <a:t>Aakash G Acharya</a:t>
            </a:r>
          </a:p>
          <a:p>
            <a:pPr algn="ctr"/>
            <a:r>
              <a:rPr lang="fi-FI" sz="900" dirty="0">
                <a:solidFill>
                  <a:schemeClr val="bg1"/>
                </a:solidFill>
              </a:rPr>
              <a:t>Engineer,</a:t>
            </a:r>
          </a:p>
          <a:p>
            <a:pPr algn="ctr"/>
            <a:r>
              <a:rPr lang="fi-FI" sz="900" dirty="0">
                <a:solidFill>
                  <a:schemeClr val="bg1"/>
                </a:solidFill>
              </a:rPr>
              <a:t>aakash.ach@samsung.com</a:t>
            </a:r>
          </a:p>
          <a:p>
            <a:pPr algn="ctr"/>
            <a:r>
              <a:rPr lang="fi-FI" sz="900" dirty="0">
                <a:solidFill>
                  <a:schemeClr val="bg1"/>
                </a:solidFill>
              </a:rPr>
              <a:t>8660690331</a:t>
            </a:r>
          </a:p>
          <a:p>
            <a:pPr algn="ctr"/>
            <a:endParaRPr lang="en-IN" sz="900" dirty="0">
              <a:solidFill>
                <a:schemeClr val="bg1"/>
              </a:solidFill>
            </a:endParaRPr>
          </a:p>
          <a:p>
            <a:pPr algn="ctr"/>
            <a:endParaRPr lang="en-US" sz="900" dirty="0">
              <a:solidFill>
                <a:schemeClr val="bg1"/>
              </a:solidFill>
              <a:ea typeface="SamsungOne 600C" panose="020B0706030303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2DFFC6-F7EC-4D65-8F85-2A56C8A92A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7876" y="4547808"/>
            <a:ext cx="1082746" cy="1368456"/>
          </a:xfrm>
          <a:prstGeom prst="rect">
            <a:avLst/>
          </a:prstGeom>
        </p:spPr>
      </p:pic>
      <p:sp>
        <p:nvSpPr>
          <p:cNvPr id="17" name="AutoShape 2" descr="Why is My Electric Oven Making A Popping Noise">
            <a:extLst>
              <a:ext uri="{FF2B5EF4-FFF2-40B4-BE49-F238E27FC236}">
                <a16:creationId xmlns:a16="http://schemas.microsoft.com/office/drawing/2014/main" id="{304669A7-F57F-4F20-A959-A19BE1EDB4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9D4D4B-2EDD-4808-AE7F-07A9F99472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459" y="3245809"/>
            <a:ext cx="1185624" cy="7078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2580DA-AAAF-43DA-BD6F-B36E47F72FAB}"/>
              </a:ext>
            </a:extLst>
          </p:cNvPr>
          <p:cNvSpPr txBox="1"/>
          <p:nvPr/>
        </p:nvSpPr>
        <p:spPr>
          <a:xfrm>
            <a:off x="254489" y="4064900"/>
            <a:ext cx="10875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chemeClr val="bg1"/>
                </a:solidFill>
              </a:rPr>
              <a:t>Raw sound generated inside Kitchen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D34FEA-DE15-4DDA-B8D2-AF41293738F2}"/>
              </a:ext>
            </a:extLst>
          </p:cNvPr>
          <p:cNvSpPr txBox="1"/>
          <p:nvPr/>
        </p:nvSpPr>
        <p:spPr>
          <a:xfrm>
            <a:off x="2088701" y="4064900"/>
            <a:ext cx="10875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 dirty="0">
                <a:solidFill>
                  <a:schemeClr val="bg1"/>
                </a:solidFill>
              </a:rPr>
              <a:t>Filter noise, categorization</a:t>
            </a:r>
          </a:p>
        </p:txBody>
      </p:sp>
    </p:spTree>
    <p:extLst>
      <p:ext uri="{BB962C8B-B14F-4D97-AF65-F5344CB8AC3E}">
        <p14:creationId xmlns:p14="http://schemas.microsoft.com/office/powerpoint/2010/main" val="3445653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C2EACE5081B6449E7989C55D7AF6C4" ma:contentTypeVersion="0" ma:contentTypeDescription="Create a new document." ma:contentTypeScope="" ma:versionID="7bceb1425555ef0f8f8e4878c13c0a5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F0C692-622A-4F8A-9A7B-377E83E42E87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0365E5C-B71E-4372-B6A2-89D6AC9DCE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ABD94A-B011-4D4A-AC4C-8F6FD1E6A8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9821</TotalTime>
  <Words>475</Words>
  <Application>Microsoft Office PowerPoint</Application>
  <PresentationFormat>Widescreen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Noto Sans KR</vt:lpstr>
      <vt:lpstr>SamsungOne 600C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Laxminag Mamillapalli/SRI-Bangalore-Strategic Planning/./삼성전자</dc:creator>
  <cp:lastModifiedBy>Manbir Singh Soni/ST Cloud Analytics /SRI-Bangalore/Staff Engineer/Samsung Electronics</cp:lastModifiedBy>
  <cp:revision>273</cp:revision>
  <cp:lastPrinted>2018-09-19T11:07:13Z</cp:lastPrinted>
  <dcterms:created xsi:type="dcterms:W3CDTF">2018-08-23T04:21:01Z</dcterms:created>
  <dcterms:modified xsi:type="dcterms:W3CDTF">2025-11-10T06:53:08Z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0x01010028C2EACE5081B6449E7989C55D7AF6C4</vt:lpwstr>
  </property>
</Properties>
</file>