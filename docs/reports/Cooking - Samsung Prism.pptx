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rimo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mo-boldItalic.fntdata"/><Relationship Id="rId16" Type="http://schemas.openxmlformats.org/officeDocument/2006/relationships/font" Target="fonts/Arim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4f3ad9e14_2_7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4f3ad9e14_2_7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4f3ad9e14_2_9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6" name="Google Shape;146;g3c4f3ad9e14_2_9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7" name="Google Shape;147;g3c4f3ad9e14_2_9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c4f3ad9e14_2_9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9" name="Google Shape;149;g3c4f3ad9e14_2_9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0" name="Google Shape;150;g3c4f3ad9e14_2_9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4f3ad9e14_2_10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c4f3ad9e14_2_10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4f3ad9e14_2_1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4f3ad9e14_2_1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4f3ad9e14_2_12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4f3ad9e14_2_12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4f3ad9e14_2_14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c4f3ad9e14_2_14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4f3ad9e14_2_15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4f3ad9e14_2_15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4f3ad9e14_2_16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4f3ad9e14_2_16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4f3ad9e14_2_17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c4f3ad9e14_2_17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06711" y="2440948"/>
            <a:ext cx="8693944" cy="1811036"/>
          </a:xfrm>
          <a:custGeom>
            <a:rect b="b" l="l" r="r" t="t"/>
            <a:pathLst>
              <a:path extrusionOk="0" h="4829429" w="23183850">
                <a:moveTo>
                  <a:pt x="0" y="0"/>
                </a:moveTo>
                <a:lnTo>
                  <a:pt x="23183850" y="0"/>
                </a:lnTo>
                <a:lnTo>
                  <a:pt x="23183850" y="4829429"/>
                </a:lnTo>
                <a:lnTo>
                  <a:pt x="0" y="4829429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0" y="78786"/>
            <a:ext cx="127016" cy="361902"/>
          </a:xfrm>
          <a:custGeom>
            <a:rect b="b" l="l" r="r" t="t"/>
            <a:pathLst>
              <a:path extrusionOk="0" h="965073" w="338709">
                <a:moveTo>
                  <a:pt x="0" y="0"/>
                </a:moveTo>
                <a:lnTo>
                  <a:pt x="338709" y="0"/>
                </a:lnTo>
                <a:lnTo>
                  <a:pt x="338709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0E4094"/>
          </a:solidFill>
          <a:ln>
            <a:noFill/>
          </a:ln>
        </p:spPr>
      </p:sp>
      <p:grpSp>
        <p:nvGrpSpPr>
          <p:cNvPr id="131" name="Google Shape;131;p25"/>
          <p:cNvGrpSpPr/>
          <p:nvPr/>
        </p:nvGrpSpPr>
        <p:grpSpPr>
          <a:xfrm>
            <a:off x="286422" y="33299"/>
            <a:ext cx="7051638" cy="445727"/>
            <a:chOff x="0" y="-19050"/>
            <a:chExt cx="18804369" cy="1188606"/>
          </a:xfrm>
        </p:grpSpPr>
        <p:sp>
          <p:nvSpPr>
            <p:cNvPr id="132" name="Google Shape;132;p25"/>
            <p:cNvSpPr/>
            <p:nvPr/>
          </p:nvSpPr>
          <p:spPr>
            <a:xfrm>
              <a:off x="0" y="0"/>
              <a:ext cx="18804364" cy="1169550"/>
            </a:xfrm>
            <a:custGeom>
              <a:rect b="b" l="l" r="r" t="t"/>
              <a:pathLst>
                <a:path extrusionOk="0"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3283" l="0" r="0" t="-263283"/>
              </a:stretch>
            </a:blipFill>
            <a:ln>
              <a:noFill/>
            </a:ln>
          </p:spPr>
        </p:sp>
        <p:sp>
          <p:nvSpPr>
            <p:cNvPr id="133" name="Google Shape;133;p25"/>
            <p:cNvSpPr txBox="1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[Samsung PRISM] Preliminary Discussion</a:t>
              </a:r>
              <a:endParaRPr sz="700"/>
            </a:p>
          </p:txBody>
        </p:sp>
      </p:grpSp>
      <p:sp>
        <p:nvSpPr>
          <p:cNvPr id="134" name="Google Shape;134;p25"/>
          <p:cNvSpPr/>
          <p:nvPr/>
        </p:nvSpPr>
        <p:spPr>
          <a:xfrm>
            <a:off x="178475" y="78786"/>
            <a:ext cx="56483" cy="361902"/>
          </a:xfrm>
          <a:custGeom>
            <a:rect b="b" l="l" r="r" t="t"/>
            <a:pathLst>
              <a:path extrusionOk="0" h="965073" w="150622">
                <a:moveTo>
                  <a:pt x="0" y="0"/>
                </a:moveTo>
                <a:lnTo>
                  <a:pt x="150622" y="0"/>
                </a:lnTo>
                <a:lnTo>
                  <a:pt x="150622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135" name="Google Shape;135;p25"/>
          <p:cNvSpPr txBox="1"/>
          <p:nvPr/>
        </p:nvSpPr>
        <p:spPr>
          <a:xfrm>
            <a:off x="317173" y="2520606"/>
            <a:ext cx="729008" cy="238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</a:t>
            </a:r>
            <a:endParaRPr sz="700"/>
          </a:p>
        </p:txBody>
      </p:sp>
      <p:sp>
        <p:nvSpPr>
          <p:cNvPr id="136" name="Google Shape;136;p25"/>
          <p:cNvSpPr txBox="1"/>
          <p:nvPr/>
        </p:nvSpPr>
        <p:spPr>
          <a:xfrm>
            <a:off x="399903" y="2816267"/>
            <a:ext cx="8077838" cy="1252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413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4094"/>
              </a:buClr>
              <a:buSzPts val="1400"/>
              <a:buFont typeface="Arimo"/>
              <a:buAutoNum type="arabicPeriod"/>
            </a:pPr>
            <a:r>
              <a:rPr b="0" i="0" lang="en" sz="1400" u="none" cap="none" strike="noStrike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College Professor(s):  Prof. Shruthi KR / Email ID</a:t>
            </a:r>
            <a:endParaRPr sz="700"/>
          </a:p>
          <a:p>
            <a:pPr indent="-127000" lvl="1" marL="2413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4094"/>
              </a:buClr>
              <a:buSzPts val="1400"/>
              <a:buFont typeface="Arimo"/>
              <a:buAutoNum type="arabicPeriod"/>
            </a:pPr>
            <a:r>
              <a:rPr b="0" i="0" lang="en" sz="1400" u="none" cap="none" strike="noStrike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Students:</a:t>
            </a:r>
            <a:endParaRPr sz="700"/>
          </a:p>
          <a:p>
            <a:pPr indent="-184150" lvl="2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4094"/>
              </a:buClr>
              <a:buSzPts val="1100"/>
              <a:buFont typeface="Arimo"/>
              <a:buAutoNum type="arabicPeriod"/>
            </a:pPr>
            <a:r>
              <a:rPr b="0" i="0" lang="en" sz="1100" u="none" cap="none" strike="noStrike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Ashmaav Sharma / Email ID</a:t>
            </a:r>
            <a:endParaRPr sz="700"/>
          </a:p>
          <a:p>
            <a:pPr indent="-184150" lvl="2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4094"/>
              </a:buClr>
              <a:buSzPts val="1100"/>
              <a:buFont typeface="Arimo"/>
              <a:buAutoNum type="arabicPeriod"/>
            </a:pPr>
            <a:r>
              <a:rPr b="0" i="0" lang="en" sz="1100" u="none" cap="none" strike="noStrike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Amogh Manjunath/ Email ID</a:t>
            </a:r>
            <a:endParaRPr sz="700"/>
          </a:p>
          <a:p>
            <a:pPr indent="-184150" lvl="2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4094"/>
              </a:buClr>
              <a:buSzPts val="1100"/>
              <a:buFont typeface="Arimo"/>
              <a:buAutoNum type="arabicPeriod"/>
            </a:pPr>
            <a:r>
              <a:rPr b="0" i="0" lang="en" sz="1100" u="none" cap="none" strike="noStrike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 Ayush Pandey/ Email ID</a:t>
            </a:r>
            <a:endParaRPr sz="700"/>
          </a:p>
          <a:p>
            <a:pPr indent="-184150" lvl="2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4094"/>
              </a:buClr>
              <a:buSzPts val="1100"/>
              <a:buFont typeface="Arimo"/>
              <a:buAutoNum type="arabicPeriod"/>
            </a:pPr>
            <a:r>
              <a:rPr b="0" i="0" lang="en" sz="1100" u="none" cap="none" strike="noStrike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Karan Balaji / Email ID</a:t>
            </a:r>
            <a:endParaRPr sz="700"/>
          </a:p>
          <a:p>
            <a:pPr indent="-127000" lvl="1" marL="2413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4094"/>
              </a:buClr>
              <a:buSzPts val="1400"/>
              <a:buFont typeface="Arimo"/>
              <a:buAutoNum type="arabicPeriod"/>
            </a:pPr>
            <a:r>
              <a:rPr b="0" i="0" lang="en" sz="1400" u="none" cap="none" strike="noStrike">
                <a:solidFill>
                  <a:srgbClr val="0E4094"/>
                </a:solidFill>
                <a:latin typeface="Arimo"/>
                <a:ea typeface="Arimo"/>
                <a:cs typeface="Arimo"/>
                <a:sym typeface="Arimo"/>
              </a:rPr>
              <a:t>Department: Artificial Intelligence and Data Sciencel</a:t>
            </a:r>
            <a:endParaRPr sz="700"/>
          </a:p>
        </p:txBody>
      </p:sp>
      <p:grpSp>
        <p:nvGrpSpPr>
          <p:cNvPr id="137" name="Google Shape;137;p25"/>
          <p:cNvGrpSpPr/>
          <p:nvPr/>
        </p:nvGrpSpPr>
        <p:grpSpPr>
          <a:xfrm>
            <a:off x="7408639" y="4829728"/>
            <a:ext cx="1735357" cy="313774"/>
            <a:chOff x="0" y="-19050"/>
            <a:chExt cx="4627619" cy="836731"/>
          </a:xfrm>
        </p:grpSpPr>
        <p:sp>
          <p:nvSpPr>
            <p:cNvPr id="138" name="Google Shape;138;p25"/>
            <p:cNvSpPr/>
            <p:nvPr/>
          </p:nvSpPr>
          <p:spPr>
            <a:xfrm>
              <a:off x="0" y="0"/>
              <a:ext cx="4627619" cy="817681"/>
            </a:xfrm>
            <a:custGeom>
              <a:rect b="b" l="l" r="r" t="t"/>
              <a:pathLst>
                <a:path extrusionOk="0" h="817681" w="4627619">
                  <a:moveTo>
                    <a:pt x="0" y="0"/>
                  </a:moveTo>
                  <a:lnTo>
                    <a:pt x="4627619" y="0"/>
                  </a:lnTo>
                  <a:lnTo>
                    <a:pt x="4627619" y="817681"/>
                  </a:lnTo>
                  <a:lnTo>
                    <a:pt x="0" y="8176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5802" l="0" r="12155" t="-47937"/>
              </a:stretch>
            </a:blipFill>
            <a:ln>
              <a:noFill/>
            </a:ln>
          </p:spPr>
        </p:sp>
        <p:sp>
          <p:nvSpPr>
            <p:cNvPr id="139" name="Google Shape;139;p25"/>
            <p:cNvSpPr txBox="1"/>
            <p:nvPr/>
          </p:nvSpPr>
          <p:spPr>
            <a:xfrm>
              <a:off x="0" y="-19050"/>
              <a:ext cx="4627617" cy="8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Date: 4 March 2025</a:t>
              </a:r>
              <a:endParaRPr sz="700"/>
            </a:p>
          </p:txBody>
        </p:sp>
      </p:grpSp>
      <p:sp>
        <p:nvSpPr>
          <p:cNvPr id="140" name="Google Shape;140;p25"/>
          <p:cNvSpPr/>
          <p:nvPr/>
        </p:nvSpPr>
        <p:spPr>
          <a:xfrm>
            <a:off x="8206559" y="78786"/>
            <a:ext cx="937450" cy="356187"/>
          </a:xfrm>
          <a:custGeom>
            <a:rect b="b" l="l" r="r" t="t"/>
            <a:pathLst>
              <a:path extrusionOk="0" h="949833" w="2499868">
                <a:moveTo>
                  <a:pt x="0" y="0"/>
                </a:moveTo>
                <a:lnTo>
                  <a:pt x="2499868" y="0"/>
                </a:lnTo>
                <a:lnTo>
                  <a:pt x="2499868" y="949833"/>
                </a:lnTo>
                <a:lnTo>
                  <a:pt x="0" y="949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0907" l="-4960" r="-4571" t="-38358"/>
            </a:stretch>
          </a:blipFill>
          <a:ln>
            <a:noFill/>
          </a:ln>
        </p:spPr>
      </p:sp>
      <p:grpSp>
        <p:nvGrpSpPr>
          <p:cNvPr id="141" name="Google Shape;141;p25"/>
          <p:cNvGrpSpPr/>
          <p:nvPr/>
        </p:nvGrpSpPr>
        <p:grpSpPr>
          <a:xfrm>
            <a:off x="1046181" y="1106445"/>
            <a:ext cx="7051638" cy="1081213"/>
            <a:chOff x="0" y="-28575"/>
            <a:chExt cx="18804369" cy="2883235"/>
          </a:xfrm>
        </p:grpSpPr>
        <p:sp>
          <p:nvSpPr>
            <p:cNvPr id="142" name="Google Shape;142;p25"/>
            <p:cNvSpPr/>
            <p:nvPr/>
          </p:nvSpPr>
          <p:spPr>
            <a:xfrm>
              <a:off x="0" y="0"/>
              <a:ext cx="18804364" cy="2854660"/>
            </a:xfrm>
            <a:custGeom>
              <a:rect b="b" l="l" r="r" t="t"/>
              <a:pathLst>
                <a:path extrusionOk="0" h="285466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2854660"/>
                  </a:lnTo>
                  <a:lnTo>
                    <a:pt x="0" y="28546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3151" l="0" r="0" t="-103555"/>
              </a:stretch>
            </a:blipFill>
            <a:ln>
              <a:noFill/>
            </a:ln>
          </p:spPr>
        </p:sp>
        <p:sp>
          <p:nvSpPr>
            <p:cNvPr id="143" name="Google Shape;143;p25"/>
            <p:cNvSpPr txBox="1"/>
            <p:nvPr/>
          </p:nvSpPr>
          <p:spPr>
            <a:xfrm>
              <a:off x="0" y="-28575"/>
              <a:ext cx="18804369" cy="2883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3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Deep Learning Model to classify kitchen sounds to cooking</a:t>
              </a:r>
              <a:endParaRPr sz="7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0" y="0"/>
            <a:ext cx="9144000" cy="5117986"/>
          </a:xfrm>
          <a:custGeom>
            <a:rect b="b" l="l" r="r" t="t"/>
            <a:pathLst>
              <a:path extrusionOk="0" h="10235971" w="18288000">
                <a:moveTo>
                  <a:pt x="0" y="0"/>
                </a:moveTo>
                <a:lnTo>
                  <a:pt x="18288000" y="0"/>
                </a:lnTo>
                <a:lnTo>
                  <a:pt x="18288000" y="10235971"/>
                </a:lnTo>
                <a:lnTo>
                  <a:pt x="0" y="10235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31" l="-363" r="0" t="-431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7"/>
          <p:cNvGrpSpPr/>
          <p:nvPr/>
        </p:nvGrpSpPr>
        <p:grpSpPr>
          <a:xfrm>
            <a:off x="0" y="33299"/>
            <a:ext cx="9144009" cy="445727"/>
            <a:chOff x="0" y="-19050"/>
            <a:chExt cx="24384023" cy="1188606"/>
          </a:xfrm>
        </p:grpSpPr>
        <p:sp>
          <p:nvSpPr>
            <p:cNvPr id="158" name="Google Shape;158;p27"/>
            <p:cNvSpPr/>
            <p:nvPr/>
          </p:nvSpPr>
          <p:spPr>
            <a:xfrm>
              <a:off x="0" y="102248"/>
              <a:ext cx="338709" cy="965073"/>
            </a:xfrm>
            <a:custGeom>
              <a:rect b="b" l="l" r="r" t="t"/>
              <a:pathLst>
                <a:path extrusionOk="0"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>
              <a:noFill/>
            </a:ln>
          </p:spPr>
        </p:sp>
        <p:grpSp>
          <p:nvGrpSpPr>
            <p:cNvPr id="159" name="Google Shape;159;p27"/>
            <p:cNvGrpSpPr/>
            <p:nvPr/>
          </p:nvGrpSpPr>
          <p:grpSpPr>
            <a:xfrm>
              <a:off x="763789" y="-19050"/>
              <a:ext cx="18804369" cy="1188606"/>
              <a:chOff x="0" y="-19050"/>
              <a:chExt cx="18804369" cy="1188606"/>
            </a:xfrm>
          </p:grpSpPr>
          <p:sp>
            <p:nvSpPr>
              <p:cNvPr id="160" name="Google Shape;160;p27"/>
              <p:cNvSpPr/>
              <p:nvPr/>
            </p:nvSpPr>
            <p:spPr>
              <a:xfrm>
                <a:off x="0" y="0"/>
                <a:ext cx="18804364" cy="1169550"/>
              </a:xfrm>
              <a:custGeom>
                <a:rect b="b" l="l" r="r" t="t"/>
                <a:pathLst>
                  <a:path extrusionOk="0" h="1169550" w="18804364">
                    <a:moveTo>
                      <a:pt x="0" y="0"/>
                    </a:moveTo>
                    <a:lnTo>
                      <a:pt x="18804364" y="0"/>
                    </a:lnTo>
                    <a:lnTo>
                      <a:pt x="18804364" y="1169550"/>
                    </a:lnTo>
                    <a:lnTo>
                      <a:pt x="0" y="116955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263283" l="0" r="0" t="-263283"/>
                </a:stretch>
              </a:blipFill>
              <a:ln>
                <a:noFill/>
              </a:ln>
            </p:spPr>
          </p:sp>
          <p:sp>
            <p:nvSpPr>
              <p:cNvPr id="161" name="Google Shape;161;p27"/>
              <p:cNvSpPr txBox="1"/>
              <p:nvPr/>
            </p:nvSpPr>
            <p:spPr>
              <a:xfrm>
                <a:off x="0" y="-19050"/>
                <a:ext cx="18804369" cy="11886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7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400" u="none" cap="none" strike="noStrik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Literature survey and study</a:t>
                </a:r>
                <a:endParaRPr sz="700"/>
              </a:p>
            </p:txBody>
          </p:sp>
        </p:grpSp>
        <p:sp>
          <p:nvSpPr>
            <p:cNvPr id="162" name="Google Shape;162;p27"/>
            <p:cNvSpPr/>
            <p:nvPr/>
          </p:nvSpPr>
          <p:spPr>
            <a:xfrm>
              <a:off x="475931" y="102248"/>
              <a:ext cx="150622" cy="965073"/>
            </a:xfrm>
            <a:custGeom>
              <a:rect b="b" l="l" r="r" t="t"/>
              <a:pathLst>
                <a:path extrusionOk="0"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63" name="Google Shape;163;p27"/>
            <p:cNvSpPr/>
            <p:nvPr/>
          </p:nvSpPr>
          <p:spPr>
            <a:xfrm>
              <a:off x="21884155" y="102248"/>
              <a:ext cx="2499868" cy="949833"/>
            </a:xfrm>
            <a:custGeom>
              <a:rect b="b" l="l" r="r" t="t"/>
              <a:pathLst>
                <a:path extrusionOk="0"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0907" l="-4960" r="-4571" t="-38358"/>
              </a:stretch>
            </a:blipFill>
            <a:ln>
              <a:noFill/>
            </a:ln>
          </p:spPr>
        </p:sp>
      </p:grpSp>
      <p:grpSp>
        <p:nvGrpSpPr>
          <p:cNvPr id="164" name="Google Shape;164;p27"/>
          <p:cNvGrpSpPr/>
          <p:nvPr/>
        </p:nvGrpSpPr>
        <p:grpSpPr>
          <a:xfrm>
            <a:off x="0" y="649015"/>
            <a:ext cx="9144000" cy="591369"/>
            <a:chOff x="0" y="-38100"/>
            <a:chExt cx="24384000" cy="1576984"/>
          </a:xfrm>
        </p:grpSpPr>
        <p:sp>
          <p:nvSpPr>
            <p:cNvPr id="165" name="Google Shape;165;p27"/>
            <p:cNvSpPr/>
            <p:nvPr/>
          </p:nvSpPr>
          <p:spPr>
            <a:xfrm>
              <a:off x="0" y="0"/>
              <a:ext cx="24384000" cy="1538859"/>
            </a:xfrm>
            <a:custGeom>
              <a:rect b="b" l="l" r="r" t="t"/>
              <a:pathLst>
                <a:path extrusionOk="0" h="153885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38859"/>
                  </a:lnTo>
                  <a:lnTo>
                    <a:pt x="0" y="1538859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66" name="Google Shape;166;p27"/>
            <p:cNvSpPr txBox="1"/>
            <p:nvPr/>
          </p:nvSpPr>
          <p:spPr>
            <a:xfrm>
              <a:off x="0" y="-38100"/>
              <a:ext cx="24384000" cy="15769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•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Major Observations / Conclusions: </a:t>
              </a:r>
              <a:endParaRPr sz="700"/>
            </a:p>
            <a:p>
              <a:pPr indent="-88900" lvl="1" marL="16510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      (provide details about your findings, experimental opinion – Use separate slide if necessary)</a:t>
              </a:r>
              <a:endParaRPr sz="700"/>
            </a:p>
            <a:p>
              <a:pPr indent="-88900" lvl="1" marL="16510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E409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27"/>
          <p:cNvSpPr txBox="1"/>
          <p:nvPr/>
        </p:nvSpPr>
        <p:spPr>
          <a:xfrm>
            <a:off x="93295" y="1685942"/>
            <a:ext cx="8827601" cy="2357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just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Deep Learning for Cooking Activity Recognition (MDPI, 2024)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Evaluated CNN, GRU, and LSTM architectures for classifying cooking sounds. Convolutional Neural Networks (CNNs) proved the most robust and efficient architecture for this specific acoustic categorization.</a:t>
            </a:r>
            <a:endParaRPr sz="700"/>
          </a:p>
          <a:p>
            <a:pPr indent="0" lvl="0" marL="0" marR="0" rtl="0" algn="just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just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Acoustic Event Recognition in High Background Noise (SciELO, 2022)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Focused on identifying kitchen acoustic events at very low signal-to-noise ratios. Highlighted that identifying acoustic events in a mixture of sounds requires robust feature extraction prior to classification.</a:t>
            </a:r>
            <a:endParaRPr sz="700"/>
          </a:p>
          <a:p>
            <a:pPr indent="0" lvl="0" marL="0" marR="0" rtl="0" algn="just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just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Ambient Acoustic Detection in Smart Homes (Frontiers, 2024)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Validated the use of edge-ready sequence models and sequential APIs for ambient tracking, confirming audio as a superior, privacy-preserving alternative to vision AI.</a:t>
            </a:r>
            <a:endParaRPr sz="700"/>
          </a:p>
          <a:p>
            <a:pPr indent="0" lvl="0" marL="0" marR="0" rtl="0" algn="just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just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Cooking Activity Recognition Challenge Summary (2020)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Highlighted that distinguishing the complex acoustic signatures of overlapping micro-activities (chopping, sizzling) remains an open challenge requiring diverse data.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8"/>
          <p:cNvGrpSpPr/>
          <p:nvPr/>
        </p:nvGrpSpPr>
        <p:grpSpPr>
          <a:xfrm>
            <a:off x="0" y="33299"/>
            <a:ext cx="9144009" cy="445727"/>
            <a:chOff x="0" y="-19050"/>
            <a:chExt cx="24384023" cy="1188606"/>
          </a:xfrm>
        </p:grpSpPr>
        <p:sp>
          <p:nvSpPr>
            <p:cNvPr id="173" name="Google Shape;173;p28"/>
            <p:cNvSpPr/>
            <p:nvPr/>
          </p:nvSpPr>
          <p:spPr>
            <a:xfrm>
              <a:off x="0" y="102248"/>
              <a:ext cx="338709" cy="965073"/>
            </a:xfrm>
            <a:custGeom>
              <a:rect b="b" l="l" r="r" t="t"/>
              <a:pathLst>
                <a:path extrusionOk="0" h="965073" w="338709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>
              <a:noFill/>
            </a:ln>
          </p:spPr>
        </p:sp>
        <p:grpSp>
          <p:nvGrpSpPr>
            <p:cNvPr id="174" name="Google Shape;174;p28"/>
            <p:cNvGrpSpPr/>
            <p:nvPr/>
          </p:nvGrpSpPr>
          <p:grpSpPr>
            <a:xfrm>
              <a:off x="763789" y="-19050"/>
              <a:ext cx="18804369" cy="1188606"/>
              <a:chOff x="0" y="-19050"/>
              <a:chExt cx="18804369" cy="1188606"/>
            </a:xfrm>
          </p:grpSpPr>
          <p:sp>
            <p:nvSpPr>
              <p:cNvPr id="175" name="Google Shape;175;p28"/>
              <p:cNvSpPr/>
              <p:nvPr/>
            </p:nvSpPr>
            <p:spPr>
              <a:xfrm>
                <a:off x="0" y="0"/>
                <a:ext cx="18804364" cy="1169550"/>
              </a:xfrm>
              <a:custGeom>
                <a:rect b="b" l="l" r="r" t="t"/>
                <a:pathLst>
                  <a:path extrusionOk="0" h="1169550" w="18804364">
                    <a:moveTo>
                      <a:pt x="0" y="0"/>
                    </a:moveTo>
                    <a:lnTo>
                      <a:pt x="18804364" y="0"/>
                    </a:lnTo>
                    <a:lnTo>
                      <a:pt x="18804364" y="1169550"/>
                    </a:lnTo>
                    <a:lnTo>
                      <a:pt x="0" y="116955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263283" l="0" r="0" t="-263283"/>
                </a:stretch>
              </a:blipFill>
              <a:ln>
                <a:noFill/>
              </a:ln>
            </p:spPr>
          </p:sp>
          <p:sp>
            <p:nvSpPr>
              <p:cNvPr id="176" name="Google Shape;176;p28"/>
              <p:cNvSpPr txBox="1"/>
              <p:nvPr/>
            </p:nvSpPr>
            <p:spPr>
              <a:xfrm>
                <a:off x="0" y="-19050"/>
                <a:ext cx="18804369" cy="11886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7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400" u="none" cap="none" strike="noStrike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Literature survey and study</a:t>
                </a:r>
                <a:endParaRPr sz="700"/>
              </a:p>
            </p:txBody>
          </p:sp>
        </p:grpSp>
        <p:sp>
          <p:nvSpPr>
            <p:cNvPr id="177" name="Google Shape;177;p28"/>
            <p:cNvSpPr/>
            <p:nvPr/>
          </p:nvSpPr>
          <p:spPr>
            <a:xfrm>
              <a:off x="475931" y="102248"/>
              <a:ext cx="150622" cy="965073"/>
            </a:xfrm>
            <a:custGeom>
              <a:rect b="b" l="l" r="r" t="t"/>
              <a:pathLst>
                <a:path extrusionOk="0" h="965073" w="150622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178" name="Google Shape;178;p28"/>
            <p:cNvSpPr/>
            <p:nvPr/>
          </p:nvSpPr>
          <p:spPr>
            <a:xfrm>
              <a:off x="21884155" y="102248"/>
              <a:ext cx="2499868" cy="949833"/>
            </a:xfrm>
            <a:custGeom>
              <a:rect b="b" l="l" r="r" t="t"/>
              <a:pathLst>
                <a:path extrusionOk="0" h="949833" w="2499868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50907" l="-4960" r="-4571" t="-38358"/>
              </a:stretch>
            </a:blipFill>
            <a:ln>
              <a:noFill/>
            </a:ln>
          </p:spPr>
        </p:sp>
      </p:grpSp>
      <p:sp>
        <p:nvSpPr>
          <p:cNvPr id="179" name="Google Shape;179;p28"/>
          <p:cNvSpPr txBox="1"/>
          <p:nvPr/>
        </p:nvSpPr>
        <p:spPr>
          <a:xfrm>
            <a:off x="-4" y="1529896"/>
            <a:ext cx="9144000" cy="2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Optimal Architecture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Convolutional Neural Networks (CNNs) analyzing visual Mel-spectrograms are the industry standard for this type of acoustic feature extraction.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"Overlapping Sound" Bottleneck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Standard models trained on clean data fail in real-world kitchens. To operate reliably in diverse acoustic environments, the data pipeline must prioritize data augmentation—programmatically layering distractor noises (TVs, washing machines) over clean cooking audio.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Strategy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A perfect dataset of chaotic kitchen audio does not exist commercially. We will build a hybrid dataset utilizing sources like EPIC-Sounds (for unscripted overlap) and Google AudioSet (for "Not-Cooking" distractors)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Efficiency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Achieving the necessary processing speed for a smart home edge device will require aggressive optimization of the chosen PyTorch/TensorFlow framework.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/>
          <p:nvPr/>
        </p:nvSpPr>
        <p:spPr>
          <a:xfrm>
            <a:off x="0" y="78786"/>
            <a:ext cx="127016" cy="361902"/>
          </a:xfrm>
          <a:custGeom>
            <a:rect b="b" l="l" r="r" t="t"/>
            <a:pathLst>
              <a:path extrusionOk="0" h="965073" w="338709">
                <a:moveTo>
                  <a:pt x="0" y="0"/>
                </a:moveTo>
                <a:lnTo>
                  <a:pt x="338709" y="0"/>
                </a:lnTo>
                <a:lnTo>
                  <a:pt x="338709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0E4094"/>
          </a:solidFill>
          <a:ln>
            <a:noFill/>
          </a:ln>
        </p:spPr>
      </p:sp>
      <p:grpSp>
        <p:nvGrpSpPr>
          <p:cNvPr id="185" name="Google Shape;185;p29"/>
          <p:cNvGrpSpPr/>
          <p:nvPr/>
        </p:nvGrpSpPr>
        <p:grpSpPr>
          <a:xfrm>
            <a:off x="286422" y="33299"/>
            <a:ext cx="7051638" cy="445727"/>
            <a:chOff x="0" y="-19050"/>
            <a:chExt cx="18804369" cy="1188606"/>
          </a:xfrm>
        </p:grpSpPr>
        <p:sp>
          <p:nvSpPr>
            <p:cNvPr id="186" name="Google Shape;186;p29"/>
            <p:cNvSpPr/>
            <p:nvPr/>
          </p:nvSpPr>
          <p:spPr>
            <a:xfrm>
              <a:off x="0" y="0"/>
              <a:ext cx="18804364" cy="1169550"/>
            </a:xfrm>
            <a:custGeom>
              <a:rect b="b" l="l" r="r" t="t"/>
              <a:pathLst>
                <a:path extrusionOk="0"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3283" l="0" r="0" t="-263283"/>
              </a:stretch>
            </a:blipFill>
            <a:ln>
              <a:noFill/>
            </a:ln>
          </p:spPr>
        </p:sp>
        <p:sp>
          <p:nvSpPr>
            <p:cNvPr id="187" name="Google Shape;187;p29"/>
            <p:cNvSpPr txBox="1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Identified Resource Requirements</a:t>
              </a:r>
              <a:endParaRPr sz="700"/>
            </a:p>
          </p:txBody>
        </p:sp>
      </p:grpSp>
      <p:sp>
        <p:nvSpPr>
          <p:cNvPr id="188" name="Google Shape;188;p29"/>
          <p:cNvSpPr/>
          <p:nvPr/>
        </p:nvSpPr>
        <p:spPr>
          <a:xfrm>
            <a:off x="178475" y="78786"/>
            <a:ext cx="56483" cy="361902"/>
          </a:xfrm>
          <a:custGeom>
            <a:rect b="b" l="l" r="r" t="t"/>
            <a:pathLst>
              <a:path extrusionOk="0" h="965073" w="150622">
                <a:moveTo>
                  <a:pt x="0" y="0"/>
                </a:moveTo>
                <a:lnTo>
                  <a:pt x="150622" y="0"/>
                </a:lnTo>
                <a:lnTo>
                  <a:pt x="150622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189" name="Google Shape;189;p29"/>
          <p:cNvSpPr/>
          <p:nvPr/>
        </p:nvSpPr>
        <p:spPr>
          <a:xfrm>
            <a:off x="8206559" y="78786"/>
            <a:ext cx="937450" cy="356187"/>
          </a:xfrm>
          <a:custGeom>
            <a:rect b="b" l="l" r="r" t="t"/>
            <a:pathLst>
              <a:path extrusionOk="0" h="949833" w="2499868">
                <a:moveTo>
                  <a:pt x="0" y="0"/>
                </a:moveTo>
                <a:lnTo>
                  <a:pt x="2499868" y="0"/>
                </a:lnTo>
                <a:lnTo>
                  <a:pt x="2499868" y="949833"/>
                </a:lnTo>
                <a:lnTo>
                  <a:pt x="0" y="949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0907" l="-4960" r="-4571" t="-38358"/>
            </a:stretch>
          </a:blipFill>
          <a:ln>
            <a:noFill/>
          </a:ln>
        </p:spPr>
      </p:sp>
      <p:grpSp>
        <p:nvGrpSpPr>
          <p:cNvPr id="190" name="Google Shape;190;p29"/>
          <p:cNvGrpSpPr/>
          <p:nvPr/>
        </p:nvGrpSpPr>
        <p:grpSpPr>
          <a:xfrm>
            <a:off x="0" y="649014"/>
            <a:ext cx="9144000" cy="637556"/>
            <a:chOff x="0" y="-38100"/>
            <a:chExt cx="24384000" cy="1700149"/>
          </a:xfrm>
        </p:grpSpPr>
        <p:sp>
          <p:nvSpPr>
            <p:cNvPr id="191" name="Google Shape;191;p29"/>
            <p:cNvSpPr/>
            <p:nvPr/>
          </p:nvSpPr>
          <p:spPr>
            <a:xfrm>
              <a:off x="0" y="0"/>
              <a:ext cx="24384000" cy="1662049"/>
            </a:xfrm>
            <a:custGeom>
              <a:rect b="b" l="l" r="r" t="t"/>
              <a:pathLst>
                <a:path extrusionOk="0" h="166204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62049"/>
                  </a:lnTo>
                  <a:lnTo>
                    <a:pt x="0" y="1662049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192" name="Google Shape;192;p29"/>
            <p:cNvSpPr txBox="1"/>
            <p:nvPr/>
          </p:nvSpPr>
          <p:spPr>
            <a:xfrm>
              <a:off x="0" y="-38100"/>
              <a:ext cx="24384000" cy="17000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•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Mention any GPU/Device etc requirement here clearly.</a:t>
              </a:r>
              <a:endParaRPr sz="700"/>
            </a:p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•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Also mention which of these can be fulfilled at college level (Lab etc).</a:t>
              </a:r>
              <a:endParaRPr sz="700"/>
            </a:p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200" u="sng" cap="none" strike="noStrike">
                <a:solidFill>
                  <a:srgbClr val="0E409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29"/>
          <p:cNvSpPr txBox="1"/>
          <p:nvPr/>
        </p:nvSpPr>
        <p:spPr>
          <a:xfrm>
            <a:off x="283950" y="1370175"/>
            <a:ext cx="8576100" cy="43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Hardware Requirements: Access to Cloud GPUs (e.g., Google Colab T4 or V100 instances) to handle the initial training of the CNN architecture on massive audio datasets (like the EPIC-Sounds dataset). This cannot easily be fulfilled purely on local, standard-issue laptops.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Software Requirements: Python environments configured with Librosa, Pandas, NumPy, and PyTorch/TensorFlow.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Storage Requirements: Significant cloud or local storage space to hold thousands of uncompressed .wav files and generated spectrogram images during the 1-2 month data preprocessing phase.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Lab Resources Support the Project</a:t>
            </a:r>
            <a:endParaRPr sz="700"/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Intel i7 (14th Gen CPU) -Handles audio preprocessing, feature extraction, and dataset preparation efficiently.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64 GB RAM - Supports large datasets, batch processing, and smooth model training without memory bottlenecks.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 TB SSD Storage - Ensures fast data loading and efficient storage of datasets and model checkpoints.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NVIDIA RTX Ada 5000 GPU - Accelerates deep learning training, performs large neural network computations efficiently, and significantly reduces training time.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/>
          <p:nvPr/>
        </p:nvSpPr>
        <p:spPr>
          <a:xfrm>
            <a:off x="0" y="78786"/>
            <a:ext cx="127016" cy="361902"/>
          </a:xfrm>
          <a:custGeom>
            <a:rect b="b" l="l" r="r" t="t"/>
            <a:pathLst>
              <a:path extrusionOk="0" h="965073" w="338709">
                <a:moveTo>
                  <a:pt x="0" y="0"/>
                </a:moveTo>
                <a:lnTo>
                  <a:pt x="338709" y="0"/>
                </a:lnTo>
                <a:lnTo>
                  <a:pt x="338709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0E4094"/>
          </a:solidFill>
          <a:ln>
            <a:noFill/>
          </a:ln>
        </p:spPr>
      </p:sp>
      <p:grpSp>
        <p:nvGrpSpPr>
          <p:cNvPr id="199" name="Google Shape;199;p30"/>
          <p:cNvGrpSpPr/>
          <p:nvPr/>
        </p:nvGrpSpPr>
        <p:grpSpPr>
          <a:xfrm>
            <a:off x="286422" y="33299"/>
            <a:ext cx="7051638" cy="445727"/>
            <a:chOff x="0" y="-19050"/>
            <a:chExt cx="18804369" cy="1188606"/>
          </a:xfrm>
        </p:grpSpPr>
        <p:sp>
          <p:nvSpPr>
            <p:cNvPr id="200" name="Google Shape;200;p30"/>
            <p:cNvSpPr/>
            <p:nvPr/>
          </p:nvSpPr>
          <p:spPr>
            <a:xfrm>
              <a:off x="0" y="0"/>
              <a:ext cx="18804364" cy="1169550"/>
            </a:xfrm>
            <a:custGeom>
              <a:rect b="b" l="l" r="r" t="t"/>
              <a:pathLst>
                <a:path extrusionOk="0"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3283" l="0" r="0" t="-263283"/>
              </a:stretch>
            </a:blipFill>
            <a:ln>
              <a:noFill/>
            </a:ln>
          </p:spPr>
        </p:sp>
        <p:sp>
          <p:nvSpPr>
            <p:cNvPr id="201" name="Google Shape;201;p30"/>
            <p:cNvSpPr txBox="1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Academic Calendar Breaks (If Any)</a:t>
              </a:r>
              <a:endParaRPr sz="700"/>
            </a:p>
          </p:txBody>
        </p:sp>
      </p:grpSp>
      <p:sp>
        <p:nvSpPr>
          <p:cNvPr id="202" name="Google Shape;202;p30"/>
          <p:cNvSpPr/>
          <p:nvPr/>
        </p:nvSpPr>
        <p:spPr>
          <a:xfrm>
            <a:off x="178475" y="78786"/>
            <a:ext cx="56483" cy="361902"/>
          </a:xfrm>
          <a:custGeom>
            <a:rect b="b" l="l" r="r" t="t"/>
            <a:pathLst>
              <a:path extrusionOk="0" h="965073" w="150622">
                <a:moveTo>
                  <a:pt x="0" y="0"/>
                </a:moveTo>
                <a:lnTo>
                  <a:pt x="150622" y="0"/>
                </a:lnTo>
                <a:lnTo>
                  <a:pt x="150622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03" name="Google Shape;203;p30"/>
          <p:cNvSpPr/>
          <p:nvPr/>
        </p:nvSpPr>
        <p:spPr>
          <a:xfrm>
            <a:off x="8206559" y="78786"/>
            <a:ext cx="937450" cy="356187"/>
          </a:xfrm>
          <a:custGeom>
            <a:rect b="b" l="l" r="r" t="t"/>
            <a:pathLst>
              <a:path extrusionOk="0" h="949833" w="2499868">
                <a:moveTo>
                  <a:pt x="0" y="0"/>
                </a:moveTo>
                <a:lnTo>
                  <a:pt x="2499868" y="0"/>
                </a:lnTo>
                <a:lnTo>
                  <a:pt x="2499868" y="949833"/>
                </a:lnTo>
                <a:lnTo>
                  <a:pt x="0" y="949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0907" l="-4960" r="-4571" t="-38358"/>
            </a:stretch>
          </a:blipFill>
          <a:ln>
            <a:noFill/>
          </a:ln>
        </p:spPr>
      </p:sp>
      <p:grpSp>
        <p:nvGrpSpPr>
          <p:cNvPr id="204" name="Google Shape;204;p30"/>
          <p:cNvGrpSpPr/>
          <p:nvPr/>
        </p:nvGrpSpPr>
        <p:grpSpPr>
          <a:xfrm>
            <a:off x="0" y="649014"/>
            <a:ext cx="9144000" cy="822203"/>
            <a:chOff x="0" y="-38100"/>
            <a:chExt cx="24384000" cy="2192541"/>
          </a:xfrm>
        </p:grpSpPr>
        <p:sp>
          <p:nvSpPr>
            <p:cNvPr id="205" name="Google Shape;205;p30"/>
            <p:cNvSpPr/>
            <p:nvPr/>
          </p:nvSpPr>
          <p:spPr>
            <a:xfrm>
              <a:off x="0" y="0"/>
              <a:ext cx="24384000" cy="2154428"/>
            </a:xfrm>
            <a:custGeom>
              <a:rect b="b" l="l" r="r" t="t"/>
              <a:pathLst>
                <a:path extrusionOk="0" h="215442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54428"/>
                  </a:lnTo>
                  <a:lnTo>
                    <a:pt x="0" y="215442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206" name="Google Shape;206;p30"/>
            <p:cNvSpPr txBox="1"/>
            <p:nvPr/>
          </p:nvSpPr>
          <p:spPr>
            <a:xfrm>
              <a:off x="0" y="-38100"/>
              <a:ext cx="24384000" cy="2192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•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Mention any planned academic activity (Internals/Exams/Holidays/Events/Other Internships etc) in next 6 months which will impact project timeline.</a:t>
              </a:r>
              <a:endParaRPr sz="700"/>
            </a:p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•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This helps in setting up the expectation of delivery timeline.</a:t>
              </a:r>
              <a:endParaRPr sz="700"/>
            </a:p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200" u="sng" cap="none" strike="noStrike">
                <a:solidFill>
                  <a:srgbClr val="0E409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/>
          <p:nvPr/>
        </p:nvSpPr>
        <p:spPr>
          <a:xfrm>
            <a:off x="0" y="78786"/>
            <a:ext cx="127016" cy="361902"/>
          </a:xfrm>
          <a:custGeom>
            <a:rect b="b" l="l" r="r" t="t"/>
            <a:pathLst>
              <a:path extrusionOk="0" h="965073" w="338709">
                <a:moveTo>
                  <a:pt x="0" y="0"/>
                </a:moveTo>
                <a:lnTo>
                  <a:pt x="338709" y="0"/>
                </a:lnTo>
                <a:lnTo>
                  <a:pt x="338709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0E4094"/>
          </a:solidFill>
          <a:ln>
            <a:noFill/>
          </a:ln>
        </p:spPr>
      </p:sp>
      <p:grpSp>
        <p:nvGrpSpPr>
          <p:cNvPr id="212" name="Google Shape;212;p31"/>
          <p:cNvGrpSpPr/>
          <p:nvPr/>
        </p:nvGrpSpPr>
        <p:grpSpPr>
          <a:xfrm>
            <a:off x="286422" y="33299"/>
            <a:ext cx="7051638" cy="445727"/>
            <a:chOff x="0" y="-19050"/>
            <a:chExt cx="18804369" cy="1188606"/>
          </a:xfrm>
        </p:grpSpPr>
        <p:sp>
          <p:nvSpPr>
            <p:cNvPr id="213" name="Google Shape;213;p31"/>
            <p:cNvSpPr/>
            <p:nvPr/>
          </p:nvSpPr>
          <p:spPr>
            <a:xfrm>
              <a:off x="0" y="0"/>
              <a:ext cx="18804364" cy="1169550"/>
            </a:xfrm>
            <a:custGeom>
              <a:rect b="b" l="l" r="r" t="t"/>
              <a:pathLst>
                <a:path extrusionOk="0"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3283" l="0" r="0" t="-263283"/>
              </a:stretch>
            </a:blipFill>
            <a:ln>
              <a:noFill/>
            </a:ln>
          </p:spPr>
        </p:sp>
        <p:sp>
          <p:nvSpPr>
            <p:cNvPr id="214" name="Google Shape;214;p31"/>
            <p:cNvSpPr txBox="1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Queries</a:t>
              </a:r>
              <a:endParaRPr sz="700"/>
            </a:p>
          </p:txBody>
        </p:sp>
      </p:grpSp>
      <p:sp>
        <p:nvSpPr>
          <p:cNvPr id="215" name="Google Shape;215;p31"/>
          <p:cNvSpPr/>
          <p:nvPr/>
        </p:nvSpPr>
        <p:spPr>
          <a:xfrm>
            <a:off x="178475" y="78786"/>
            <a:ext cx="56483" cy="361902"/>
          </a:xfrm>
          <a:custGeom>
            <a:rect b="b" l="l" r="r" t="t"/>
            <a:pathLst>
              <a:path extrusionOk="0" h="965073" w="150622">
                <a:moveTo>
                  <a:pt x="0" y="0"/>
                </a:moveTo>
                <a:lnTo>
                  <a:pt x="150622" y="0"/>
                </a:lnTo>
                <a:lnTo>
                  <a:pt x="150622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16" name="Google Shape;216;p31"/>
          <p:cNvSpPr/>
          <p:nvPr/>
        </p:nvSpPr>
        <p:spPr>
          <a:xfrm>
            <a:off x="8206559" y="78786"/>
            <a:ext cx="937450" cy="356187"/>
          </a:xfrm>
          <a:custGeom>
            <a:rect b="b" l="l" r="r" t="t"/>
            <a:pathLst>
              <a:path extrusionOk="0" h="949833" w="2499868">
                <a:moveTo>
                  <a:pt x="0" y="0"/>
                </a:moveTo>
                <a:lnTo>
                  <a:pt x="2499868" y="0"/>
                </a:lnTo>
                <a:lnTo>
                  <a:pt x="2499868" y="949833"/>
                </a:lnTo>
                <a:lnTo>
                  <a:pt x="0" y="949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0907" l="-4960" r="-4571" t="-38358"/>
            </a:stretch>
          </a:blipFill>
          <a:ln>
            <a:noFill/>
          </a:ln>
        </p:spPr>
      </p:sp>
      <p:grpSp>
        <p:nvGrpSpPr>
          <p:cNvPr id="217" name="Google Shape;217;p31"/>
          <p:cNvGrpSpPr/>
          <p:nvPr/>
        </p:nvGrpSpPr>
        <p:grpSpPr>
          <a:xfrm>
            <a:off x="0" y="590598"/>
            <a:ext cx="9144000" cy="406717"/>
            <a:chOff x="0" y="-38100"/>
            <a:chExt cx="24384000" cy="1084580"/>
          </a:xfrm>
        </p:grpSpPr>
        <p:sp>
          <p:nvSpPr>
            <p:cNvPr id="218" name="Google Shape;218;p31"/>
            <p:cNvSpPr/>
            <p:nvPr/>
          </p:nvSpPr>
          <p:spPr>
            <a:xfrm>
              <a:off x="0" y="0"/>
              <a:ext cx="24384000" cy="1046480"/>
            </a:xfrm>
            <a:custGeom>
              <a:rect b="b" l="l" r="r" t="t"/>
              <a:pathLst>
                <a:path extrusionOk="0" h="104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46480"/>
                  </a:lnTo>
                  <a:lnTo>
                    <a:pt x="0" y="104648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219" name="Google Shape;219;p31"/>
            <p:cNvSpPr txBox="1"/>
            <p:nvPr/>
          </p:nvSpPr>
          <p:spPr>
            <a:xfrm>
              <a:off x="0" y="-38100"/>
              <a:ext cx="24384000" cy="1084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•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Challenges </a:t>
              </a:r>
              <a:r>
                <a:rPr b="0" i="0" lang="en" sz="1200" u="none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 sz="700"/>
            </a:p>
            <a:p>
              <a:pPr indent="-88900" lvl="1" marL="16510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      (Discuss in the form of bullets, what are the next action steps, any road blocks / bottlenecks)</a:t>
              </a:r>
              <a:endParaRPr sz="700"/>
            </a:p>
          </p:txBody>
        </p:sp>
      </p:grpSp>
      <p:sp>
        <p:nvSpPr>
          <p:cNvPr id="220" name="Google Shape;220;p31"/>
          <p:cNvSpPr txBox="1"/>
          <p:nvPr/>
        </p:nvSpPr>
        <p:spPr>
          <a:xfrm>
            <a:off x="63500" y="1986115"/>
            <a:ext cx="9080501" cy="1452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Challenge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Acquiring and isolating high-quality "Cooking" audio from massive, unscripted datasets like EPIC-Kitchens without introducing mislabeled data.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Challenge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Designing a programmatic data augmentation pipeline that accurately mimics the acoustic physics of a real kitchen (e.g., the correct volume ratio of a sizzling pan versus a running dishwasher).</a:t>
            </a:r>
            <a:endParaRPr sz="700"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27000" lvl="1" marL="2540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Challenge</a:t>
            </a:r>
            <a:r>
              <a:rPr b="0" i="0" lang="en" sz="12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Tuning the binary classifier to achieve a near-zero false-positive rate, ensuring standard household noises do not accidentally trigger a "Cooking" state in a commercial IoT environment.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/>
          <p:nvPr/>
        </p:nvSpPr>
        <p:spPr>
          <a:xfrm>
            <a:off x="0" y="78786"/>
            <a:ext cx="127016" cy="361902"/>
          </a:xfrm>
          <a:custGeom>
            <a:rect b="b" l="l" r="r" t="t"/>
            <a:pathLst>
              <a:path extrusionOk="0" h="965073" w="338709">
                <a:moveTo>
                  <a:pt x="0" y="0"/>
                </a:moveTo>
                <a:lnTo>
                  <a:pt x="338709" y="0"/>
                </a:lnTo>
                <a:lnTo>
                  <a:pt x="338709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0E4094"/>
          </a:solidFill>
          <a:ln>
            <a:noFill/>
          </a:ln>
        </p:spPr>
      </p:sp>
      <p:grpSp>
        <p:nvGrpSpPr>
          <p:cNvPr id="226" name="Google Shape;226;p32"/>
          <p:cNvGrpSpPr/>
          <p:nvPr/>
        </p:nvGrpSpPr>
        <p:grpSpPr>
          <a:xfrm>
            <a:off x="286422" y="33299"/>
            <a:ext cx="7051638" cy="445727"/>
            <a:chOff x="0" y="-19050"/>
            <a:chExt cx="18804369" cy="1188606"/>
          </a:xfrm>
        </p:grpSpPr>
        <p:sp>
          <p:nvSpPr>
            <p:cNvPr id="227" name="Google Shape;227;p32"/>
            <p:cNvSpPr/>
            <p:nvPr/>
          </p:nvSpPr>
          <p:spPr>
            <a:xfrm>
              <a:off x="0" y="0"/>
              <a:ext cx="18804364" cy="1169550"/>
            </a:xfrm>
            <a:custGeom>
              <a:rect b="b" l="l" r="r" t="t"/>
              <a:pathLst>
                <a:path extrusionOk="0" h="1169550" w="18804364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3283" l="0" r="0" t="-263283"/>
              </a:stretch>
            </a:blipFill>
            <a:ln>
              <a:noFill/>
            </a:ln>
          </p:spPr>
        </p:sp>
        <p:sp>
          <p:nvSpPr>
            <p:cNvPr id="228" name="Google Shape;228;p32"/>
            <p:cNvSpPr txBox="1"/>
            <p:nvPr/>
          </p:nvSpPr>
          <p:spPr>
            <a:xfrm>
              <a:off x="0" y="-19050"/>
              <a:ext cx="18804369" cy="11886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Professor Comments</a:t>
              </a:r>
              <a:endParaRPr sz="700"/>
            </a:p>
          </p:txBody>
        </p:sp>
      </p:grpSp>
      <p:sp>
        <p:nvSpPr>
          <p:cNvPr id="229" name="Google Shape;229;p32"/>
          <p:cNvSpPr/>
          <p:nvPr/>
        </p:nvSpPr>
        <p:spPr>
          <a:xfrm>
            <a:off x="178475" y="78786"/>
            <a:ext cx="56483" cy="361902"/>
          </a:xfrm>
          <a:custGeom>
            <a:rect b="b" l="l" r="r" t="t"/>
            <a:pathLst>
              <a:path extrusionOk="0" h="965073" w="150622">
                <a:moveTo>
                  <a:pt x="0" y="0"/>
                </a:moveTo>
                <a:lnTo>
                  <a:pt x="150622" y="0"/>
                </a:lnTo>
                <a:lnTo>
                  <a:pt x="150622" y="965073"/>
                </a:lnTo>
                <a:lnTo>
                  <a:pt x="0" y="965073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30" name="Google Shape;230;p32"/>
          <p:cNvSpPr/>
          <p:nvPr/>
        </p:nvSpPr>
        <p:spPr>
          <a:xfrm>
            <a:off x="8206559" y="78786"/>
            <a:ext cx="937450" cy="356187"/>
          </a:xfrm>
          <a:custGeom>
            <a:rect b="b" l="l" r="r" t="t"/>
            <a:pathLst>
              <a:path extrusionOk="0" h="949833" w="2499868">
                <a:moveTo>
                  <a:pt x="0" y="0"/>
                </a:moveTo>
                <a:lnTo>
                  <a:pt x="2499868" y="0"/>
                </a:lnTo>
                <a:lnTo>
                  <a:pt x="2499868" y="949833"/>
                </a:lnTo>
                <a:lnTo>
                  <a:pt x="0" y="949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0907" l="-4960" r="-4571" t="-38358"/>
            </a:stretch>
          </a:blipFill>
          <a:ln>
            <a:noFill/>
          </a:ln>
        </p:spPr>
      </p:sp>
      <p:grpSp>
        <p:nvGrpSpPr>
          <p:cNvPr id="231" name="Google Shape;231;p32"/>
          <p:cNvGrpSpPr/>
          <p:nvPr/>
        </p:nvGrpSpPr>
        <p:grpSpPr>
          <a:xfrm>
            <a:off x="0" y="649015"/>
            <a:ext cx="9144000" cy="1006888"/>
            <a:chOff x="0" y="-38100"/>
            <a:chExt cx="24384000" cy="2685034"/>
          </a:xfrm>
        </p:grpSpPr>
        <p:sp>
          <p:nvSpPr>
            <p:cNvPr id="232" name="Google Shape;232;p32"/>
            <p:cNvSpPr/>
            <p:nvPr/>
          </p:nvSpPr>
          <p:spPr>
            <a:xfrm>
              <a:off x="0" y="0"/>
              <a:ext cx="24384000" cy="2646934"/>
            </a:xfrm>
            <a:custGeom>
              <a:rect b="b" l="l" r="r" t="t"/>
              <a:pathLst>
                <a:path extrusionOk="0" h="264693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646934"/>
                  </a:lnTo>
                  <a:lnTo>
                    <a:pt x="0" y="2646934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sp>
          <p:nvSpPr>
            <p:cNvPr id="233" name="Google Shape;233;p32"/>
            <p:cNvSpPr txBox="1"/>
            <p:nvPr/>
          </p:nvSpPr>
          <p:spPr>
            <a:xfrm>
              <a:off x="0" y="-38100"/>
              <a:ext cx="24384000" cy="2684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•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Slide to be filled in by professor (Either of two)</a:t>
              </a:r>
              <a:endParaRPr sz="700"/>
            </a:p>
            <a:p>
              <a:pPr indent="-101600" lvl="1" marL="2159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•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Please mention below points at the least:</a:t>
              </a:r>
              <a:endParaRPr sz="700"/>
            </a:p>
            <a:p>
              <a:pPr indent="-190500" lvl="2" marL="5588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⚬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Proposed monthly progress approach</a:t>
              </a:r>
              <a:endParaRPr sz="700"/>
            </a:p>
            <a:p>
              <a:pPr indent="-190500" lvl="2" marL="5588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⚬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Latest paper reviewed regarding the problem statement area</a:t>
              </a:r>
              <a:endParaRPr sz="700"/>
            </a:p>
            <a:p>
              <a:pPr indent="-190500" lvl="2" marL="558800" marR="0" rtl="0" algn="just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E4094"/>
                </a:buClr>
                <a:buSzPts val="1200"/>
                <a:buFont typeface="Arial"/>
                <a:buChar char="⚬"/>
              </a:pPr>
              <a:r>
                <a:rPr b="1" i="0" lang="en" sz="1200" u="sng" cap="none" strike="noStrike">
                  <a:solidFill>
                    <a:srgbClr val="0E4094"/>
                  </a:solidFill>
                  <a:latin typeface="Calibri"/>
                  <a:ea typeface="Calibri"/>
                  <a:cs typeface="Calibri"/>
                  <a:sym typeface="Calibri"/>
                </a:rPr>
                <a:t>Professor Expert Insights</a:t>
              </a:r>
              <a:endParaRPr sz="7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33"/>
          <p:cNvGrpSpPr/>
          <p:nvPr/>
        </p:nvGrpSpPr>
        <p:grpSpPr>
          <a:xfrm>
            <a:off x="1647411" y="395083"/>
            <a:ext cx="6867940" cy="4237644"/>
            <a:chOff x="0" y="0"/>
            <a:chExt cx="18314505" cy="11300384"/>
          </a:xfrm>
        </p:grpSpPr>
        <p:sp>
          <p:nvSpPr>
            <p:cNvPr id="239" name="Google Shape;239;p33"/>
            <p:cNvSpPr/>
            <p:nvPr/>
          </p:nvSpPr>
          <p:spPr>
            <a:xfrm>
              <a:off x="0" y="0"/>
              <a:ext cx="18314504" cy="11300378"/>
            </a:xfrm>
            <a:custGeom>
              <a:rect b="b" l="l" r="r" t="t"/>
              <a:pathLst>
                <a:path extrusionOk="0" h="11300378" w="18314504">
                  <a:moveTo>
                    <a:pt x="0" y="0"/>
                  </a:moveTo>
                  <a:lnTo>
                    <a:pt x="18314504" y="0"/>
                  </a:lnTo>
                  <a:lnTo>
                    <a:pt x="18314504" y="11300378"/>
                  </a:lnTo>
                  <a:lnTo>
                    <a:pt x="0" y="1130037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29164" r="-29164" t="0"/>
              </a:stretch>
            </a:blipFill>
            <a:ln>
              <a:noFill/>
            </a:ln>
          </p:spPr>
        </p:sp>
        <p:sp>
          <p:nvSpPr>
            <p:cNvPr id="240" name="Google Shape;240;p33"/>
            <p:cNvSpPr txBox="1"/>
            <p:nvPr/>
          </p:nvSpPr>
          <p:spPr>
            <a:xfrm>
              <a:off x="0" y="238125"/>
              <a:ext cx="18314505" cy="110622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400" u="none" cap="none" strike="noStrike">
                  <a:solidFill>
                    <a:srgbClr val="5B9BD5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  <a:endParaRPr sz="700"/>
            </a:p>
          </p:txBody>
        </p:sp>
      </p:grpSp>
      <p:sp>
        <p:nvSpPr>
          <p:cNvPr id="241" name="Google Shape;241;p33"/>
          <p:cNvSpPr/>
          <p:nvPr/>
        </p:nvSpPr>
        <p:spPr>
          <a:xfrm>
            <a:off x="573553" y="-18460"/>
            <a:ext cx="738426" cy="5161979"/>
          </a:xfrm>
          <a:custGeom>
            <a:rect b="b" l="l" r="r" t="t"/>
            <a:pathLst>
              <a:path extrusionOk="0" h="13765276" w="1969135">
                <a:moveTo>
                  <a:pt x="0" y="0"/>
                </a:moveTo>
                <a:lnTo>
                  <a:pt x="1969135" y="0"/>
                </a:lnTo>
                <a:lnTo>
                  <a:pt x="1969135" y="13765276"/>
                </a:lnTo>
                <a:lnTo>
                  <a:pt x="0" y="13765276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42" name="Google Shape;242;p33"/>
          <p:cNvSpPr/>
          <p:nvPr/>
        </p:nvSpPr>
        <p:spPr>
          <a:xfrm>
            <a:off x="0" y="0"/>
            <a:ext cx="462153" cy="5143500"/>
          </a:xfrm>
          <a:custGeom>
            <a:rect b="b" l="l" r="r" t="t"/>
            <a:pathLst>
              <a:path extrusionOk="0" h="13716000" w="1232408">
                <a:moveTo>
                  <a:pt x="0" y="0"/>
                </a:moveTo>
                <a:lnTo>
                  <a:pt x="1232408" y="0"/>
                </a:lnTo>
                <a:lnTo>
                  <a:pt x="123240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E4094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