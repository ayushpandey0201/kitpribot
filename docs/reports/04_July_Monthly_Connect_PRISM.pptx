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797675" cy="99282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MmqDxmW8F2mv4D2ONGZZ4/K0U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a72d3e55c_3_2:notes"/>
          <p:cNvSpPr/>
          <p:nvPr>
            <p:ph idx="2" type="sldImg"/>
          </p:nvPr>
        </p:nvSpPr>
        <p:spPr>
          <a:xfrm>
            <a:off x="906357" y="1241028"/>
            <a:ext cx="7250853" cy="33507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ea72d3e55c_3_2:notes"/>
          <p:cNvSpPr txBox="1"/>
          <p:nvPr>
            <p:ph idx="1" type="body"/>
          </p:nvPr>
        </p:nvSpPr>
        <p:spPr>
          <a:xfrm>
            <a:off x="906357" y="4777958"/>
            <a:ext cx="7250853" cy="3909239"/>
          </a:xfrm>
          <a:prstGeom prst="rect">
            <a:avLst/>
          </a:prstGeom>
          <a:noFill/>
          <a:ln>
            <a:noFill/>
          </a:ln>
        </p:spPr>
        <p:txBody>
          <a:bodyPr anchorCtr="0" anchor="t" bIns="56800" lIns="113650" spcFirstLastPara="1" rIns="113650" wrap="square" tIns="5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" name="Google Shape;89;g3ea72d3e55c_3_2:notes"/>
          <p:cNvSpPr txBox="1"/>
          <p:nvPr>
            <p:ph idx="12" type="sldNum"/>
          </p:nvPr>
        </p:nvSpPr>
        <p:spPr>
          <a:xfrm>
            <a:off x="5133924" y="9430091"/>
            <a:ext cx="3927546" cy="498134"/>
          </a:xfrm>
          <a:prstGeom prst="rect">
            <a:avLst/>
          </a:prstGeom>
          <a:noFill/>
          <a:ln>
            <a:noFill/>
          </a:ln>
        </p:spPr>
        <p:txBody>
          <a:bodyPr anchorCtr="0" anchor="b" bIns="56800" lIns="113650" spcFirstLastPara="1" rIns="113650" wrap="square" tIns="5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a72d3e55c_3_20:notes"/>
          <p:cNvSpPr/>
          <p:nvPr>
            <p:ph idx="2" type="sldImg"/>
          </p:nvPr>
        </p:nvSpPr>
        <p:spPr>
          <a:xfrm>
            <a:off x="906357" y="1241028"/>
            <a:ext cx="7250853" cy="33507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ea72d3e55c_3_20:notes"/>
          <p:cNvSpPr txBox="1"/>
          <p:nvPr>
            <p:ph idx="1" type="body"/>
          </p:nvPr>
        </p:nvSpPr>
        <p:spPr>
          <a:xfrm>
            <a:off x="906357" y="4777958"/>
            <a:ext cx="7250853" cy="3909239"/>
          </a:xfrm>
          <a:prstGeom prst="rect">
            <a:avLst/>
          </a:prstGeom>
          <a:noFill/>
          <a:ln>
            <a:noFill/>
          </a:ln>
        </p:spPr>
        <p:txBody>
          <a:bodyPr anchorCtr="0" anchor="t" bIns="56800" lIns="113650" spcFirstLastPara="1" rIns="113650" wrap="square" tIns="5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8" name="Google Shape;108;g3ea72d3e55c_3_20:notes"/>
          <p:cNvSpPr txBox="1"/>
          <p:nvPr>
            <p:ph idx="12" type="sldNum"/>
          </p:nvPr>
        </p:nvSpPr>
        <p:spPr>
          <a:xfrm>
            <a:off x="5133924" y="9430091"/>
            <a:ext cx="3927546" cy="498134"/>
          </a:xfrm>
          <a:prstGeom prst="rect">
            <a:avLst/>
          </a:prstGeom>
          <a:noFill/>
          <a:ln>
            <a:noFill/>
          </a:ln>
        </p:spPr>
        <p:txBody>
          <a:bodyPr anchorCtr="0" anchor="b" bIns="56800" lIns="113650" spcFirstLastPara="1" rIns="113650" wrap="square" tIns="5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a72d3e55c_3_37:notes"/>
          <p:cNvSpPr/>
          <p:nvPr>
            <p:ph idx="2" type="sldImg"/>
          </p:nvPr>
        </p:nvSpPr>
        <p:spPr>
          <a:xfrm>
            <a:off x="906357" y="1241028"/>
            <a:ext cx="7250853" cy="33507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a72d3e55c_3_37:notes"/>
          <p:cNvSpPr txBox="1"/>
          <p:nvPr>
            <p:ph idx="1" type="body"/>
          </p:nvPr>
        </p:nvSpPr>
        <p:spPr>
          <a:xfrm>
            <a:off x="906357" y="4777958"/>
            <a:ext cx="7250853" cy="3909239"/>
          </a:xfrm>
          <a:prstGeom prst="rect">
            <a:avLst/>
          </a:prstGeom>
          <a:noFill/>
          <a:ln>
            <a:noFill/>
          </a:ln>
        </p:spPr>
        <p:txBody>
          <a:bodyPr anchorCtr="0" anchor="t" bIns="56800" lIns="113650" spcFirstLastPara="1" rIns="113650" wrap="square" tIns="5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7" name="Google Shape;127;g3ea72d3e55c_3_37:notes"/>
          <p:cNvSpPr txBox="1"/>
          <p:nvPr>
            <p:ph idx="12" type="sldNum"/>
          </p:nvPr>
        </p:nvSpPr>
        <p:spPr>
          <a:xfrm>
            <a:off x="5133924" y="9430091"/>
            <a:ext cx="3927546" cy="498134"/>
          </a:xfrm>
          <a:prstGeom prst="rect">
            <a:avLst/>
          </a:prstGeom>
          <a:noFill/>
          <a:ln>
            <a:noFill/>
          </a:ln>
        </p:spPr>
        <p:txBody>
          <a:bodyPr anchorCtr="0" anchor="b" bIns="56800" lIns="113650" spcFirstLastPara="1" rIns="113650" wrap="square" tIns="5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a72d3e55c_3_54:notes"/>
          <p:cNvSpPr/>
          <p:nvPr>
            <p:ph idx="2" type="sldImg"/>
          </p:nvPr>
        </p:nvSpPr>
        <p:spPr>
          <a:xfrm>
            <a:off x="906357" y="1241028"/>
            <a:ext cx="7250853" cy="33507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a72d3e55c_3_54:notes"/>
          <p:cNvSpPr txBox="1"/>
          <p:nvPr>
            <p:ph idx="1" type="body"/>
          </p:nvPr>
        </p:nvSpPr>
        <p:spPr>
          <a:xfrm>
            <a:off x="906357" y="4777958"/>
            <a:ext cx="7250853" cy="3909239"/>
          </a:xfrm>
          <a:prstGeom prst="rect">
            <a:avLst/>
          </a:prstGeom>
          <a:noFill/>
          <a:ln>
            <a:noFill/>
          </a:ln>
        </p:spPr>
        <p:txBody>
          <a:bodyPr anchorCtr="0" anchor="t" bIns="56800" lIns="113650" spcFirstLastPara="1" rIns="113650" wrap="square" tIns="5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6" name="Google Shape;146;g3ea72d3e55c_3_54:notes"/>
          <p:cNvSpPr txBox="1"/>
          <p:nvPr>
            <p:ph idx="12" type="sldNum"/>
          </p:nvPr>
        </p:nvSpPr>
        <p:spPr>
          <a:xfrm>
            <a:off x="5133924" y="9430091"/>
            <a:ext cx="3927546" cy="498134"/>
          </a:xfrm>
          <a:prstGeom prst="rect">
            <a:avLst/>
          </a:prstGeom>
          <a:noFill/>
          <a:ln>
            <a:noFill/>
          </a:ln>
        </p:spPr>
        <p:txBody>
          <a:bodyPr anchorCtr="0" anchor="b" bIns="56800" lIns="113650" spcFirstLastPara="1" rIns="113650" wrap="square" tIns="5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700"/>
              <a:t>‹#›</a:t>
            </a:fld>
            <a:endParaRPr sz="17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72d3e55c_3_2"/>
          <p:cNvSpPr/>
          <p:nvPr/>
        </p:nvSpPr>
        <p:spPr>
          <a:xfrm>
            <a:off x="0" y="877824"/>
            <a:ext cx="12192000" cy="792480"/>
          </a:xfrm>
          <a:prstGeom prst="rect">
            <a:avLst/>
          </a:prstGeom>
          <a:solidFill>
            <a:srgbClr val="404040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a72d3e55c_3_2"/>
          <p:cNvSpPr/>
          <p:nvPr/>
        </p:nvSpPr>
        <p:spPr>
          <a:xfrm>
            <a:off x="304800" y="877824"/>
            <a:ext cx="36576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B85C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5CB85C"/>
                </a:solidFill>
                <a:latin typeface="Calibri"/>
                <a:ea typeface="Calibri"/>
                <a:cs typeface="Calibri"/>
                <a:sym typeface="Calibri"/>
              </a:rPr>
              <a:t>Worklet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ea72d3e55c_3_2"/>
          <p:cNvSpPr/>
          <p:nvPr/>
        </p:nvSpPr>
        <p:spPr>
          <a:xfrm>
            <a:off x="219450" y="1146038"/>
            <a:ext cx="11582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Worklet ID: 25ST31BMS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College Name: B.M.S. College of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a72d3e55c_3_2"/>
          <p:cNvSpPr/>
          <p:nvPr/>
        </p:nvSpPr>
        <p:spPr>
          <a:xfrm>
            <a:off x="9144000" y="6461760"/>
            <a:ext cx="280416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Calibri"/>
              <a:buNone/>
            </a:pPr>
            <a:r>
              <a:rPr b="1" i="0" lang="en-IN" sz="1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b="1" lang="en-IN" sz="19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b="1" i="0" lang="en-IN" sz="1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b="1" lang="en-IN" sz="19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IN" sz="19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/2026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a72d3e55c_3_2"/>
          <p:cNvSpPr/>
          <p:nvPr/>
        </p:nvSpPr>
        <p:spPr>
          <a:xfrm>
            <a:off x="21945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a72d3e55c_3_2"/>
          <p:cNvSpPr/>
          <p:nvPr/>
        </p:nvSpPr>
        <p:spPr>
          <a:xfrm>
            <a:off x="40233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Last Month's Progress: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a72d3e55c_3_2"/>
          <p:cNvSpPr/>
          <p:nvPr/>
        </p:nvSpPr>
        <p:spPr>
          <a:xfrm>
            <a:off x="40233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Dataset Rebuild (kitpri_v4) </a:t>
            </a:r>
            <a:r>
              <a:rPr b="1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Generated 7,200 synthetic WAV audio clips (6,300 train / 450 val / 450 test) featuring 2–4 layered sounds at varied volumes to capture soft, easy-to-miss sounds like electrical hums.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Architecture Benchmarking: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Evaluated EfficientNet-B0 across 6 configuration variants, revealing a hard ceiling of ~0.63–0.68 test F1 score. Transitioned to Audio Spectrogram Transformer (AST), which achieved 0.8129 test F1 (82.0% test accuracy)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Knowledge Distillation:</a:t>
            </a:r>
            <a:r>
              <a:rPr lang="en-IN" sz="1100">
                <a:solidFill>
                  <a:schemeClr val="dk1"/>
                </a:solidFill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Distilled knowledge from the 86.2M parameter AST teacher into a compact MobileNetV2 student model (2.22M parameters). The resulting FP32 student reached 0.7226 test F1</a:t>
            </a:r>
            <a:r>
              <a:rPr lang="en-IN" sz="1100">
                <a:solidFill>
                  <a:schemeClr val="dk1"/>
                </a:solidFill>
              </a:rPr>
              <a:t>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Decision Threshold Tuning:</a:t>
            </a:r>
            <a:r>
              <a:rPr lang="en-IN" sz="1100">
                <a:solidFill>
                  <a:schemeClr val="dk1"/>
                </a:solidFill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Evaluated confidence threshold cutoffs on validation data, selecting an optimal decision threshold of 0.44 to maximize F1 balance.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Static INT8 Quantization: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Applied post-training static quantization using 500 calibration clips. Compressed the model footprint from 8.49 MB to 2.80 MB (67% size reduction) and accelerated inference to 25.51 ms/clip (2.25x speedup on CPU) while maintaining 0.6910 test F1.</a:t>
            </a:r>
            <a:r>
              <a:rPr lang="en-IN" sz="1100">
                <a:solidFill>
                  <a:schemeClr val="dk1"/>
                </a:solidFill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a72d3e55c_3_2"/>
          <p:cNvSpPr/>
          <p:nvPr/>
        </p:nvSpPr>
        <p:spPr>
          <a:xfrm>
            <a:off x="619353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a72d3e55c_3_2"/>
          <p:cNvSpPr/>
          <p:nvPr/>
        </p:nvSpPr>
        <p:spPr>
          <a:xfrm>
            <a:off x="637641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KPIs Achieved as per Milestone: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ea72d3e55c_3_2"/>
          <p:cNvSpPr/>
          <p:nvPr/>
        </p:nvSpPr>
        <p:spPr>
          <a:xfrm>
            <a:off x="637641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Data Engineering:</a:t>
            </a:r>
            <a:r>
              <a:rPr b="0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1100">
                <a:solidFill>
                  <a:schemeClr val="dk1"/>
                </a:solidFill>
              </a:rPr>
              <a:t>:</a:t>
            </a:r>
            <a:r>
              <a:rPr lang="en-IN" sz="1100">
                <a:solidFill>
                  <a:schemeClr val="dk1"/>
                </a:solidFill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Finalized and locked a 70/15/15 stratified split (6,300 train / 450 val / 450 test). Rebuilt the dataset (v4) with 7,200 synthetic 10-second WAV clips layering 2–4 overlapping sounds at varied volumes to capture soft acoustic transients. </a:t>
            </a:r>
            <a:endParaRPr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Baseline Establish</a:t>
            </a:r>
            <a:r>
              <a:rPr b="1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ment:</a:t>
            </a:r>
            <a:r>
              <a:rPr b="0" i="0" lang="en-IN" sz="1300" u="none" cap="none" strike="noStrike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Evaluated EfficientNet-B0 across 6 hyperparameter variants, identifying a hard performance ceiling at ~0.63–0.68 Test F1. Transitioned to Audio Spectrogram Transformer (AST), achieving 0.8129 Test F1 (82.0% accuracy), establishing Transformer-first design.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Knowledge Distillation:</a:t>
            </a:r>
            <a:r>
              <a:rPr lang="en-IN" sz="1100">
                <a:solidFill>
                  <a:schemeClr val="dk1"/>
                </a:solidFill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Distilled knowledge from the 86.2M parameter AST teacher into a compact MobileNetV2 student model (2.22M parameters). The FP32 student achieved 0.7226 Test F1 with an 8.49 MB footprint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Threshold Tuning &amp; Quantization:</a:t>
            </a:r>
            <a:r>
              <a:rPr lang="en-IN" sz="1100">
                <a:solidFill>
                  <a:schemeClr val="dk1"/>
                </a:solidFill>
              </a:rPr>
              <a:t> 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Calibrated optimal decision cutoff at 0.44 confidence. Implemented static post-training INT8 quantization with 500 calibration clips, compressing the model to 2.80 MB (67% reduction) and accelerating CPU inference to 25.51 ms/clip (2.25x speedup) at 0.6910 Test F1</a:t>
            </a:r>
            <a:r>
              <a:rPr lang="en-IN" sz="1100">
                <a:solidFill>
                  <a:schemeClr val="dk1"/>
                </a:solidFill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rPr b="1" lang="en-IN" sz="1100">
                <a:solidFill>
                  <a:schemeClr val="dk1"/>
                </a:solidFill>
              </a:rPr>
              <a:t>Telegram Bot &amp; Edge Deployment:</a:t>
            </a:r>
            <a:r>
              <a:rPr lang="en-IN" sz="13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 Integrated the 2.80 MB INT8 payload into an ngrok-hosted Telegram bot backend. Verified compliance with Samsung's 60 MB RAM budget (utilizing &lt;5% allocated memory)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a72d3e55c_3_2"/>
          <p:cNvSpPr/>
          <p:nvPr/>
        </p:nvSpPr>
        <p:spPr>
          <a:xfrm>
            <a:off x="1" y="105045"/>
            <a:ext cx="169200" cy="4824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ea72d3e55c_3_2"/>
          <p:cNvSpPr txBox="1"/>
          <p:nvPr/>
        </p:nvSpPr>
        <p:spPr>
          <a:xfrm>
            <a:off x="381897" y="146254"/>
            <a:ext cx="100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0" i="0" lang="en-IN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Deep Learning Model to Classify Kitchen Sounds to Cooking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ea72d3e55c_3_2"/>
          <p:cNvSpPr/>
          <p:nvPr/>
        </p:nvSpPr>
        <p:spPr>
          <a:xfrm>
            <a:off x="237966" y="105045"/>
            <a:ext cx="75300" cy="482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g3ea72d3e55c_3_2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a72d3e55c_3_20"/>
          <p:cNvSpPr/>
          <p:nvPr/>
        </p:nvSpPr>
        <p:spPr>
          <a:xfrm>
            <a:off x="0" y="877824"/>
            <a:ext cx="12192000" cy="792480"/>
          </a:xfrm>
          <a:prstGeom prst="rect">
            <a:avLst/>
          </a:prstGeom>
          <a:solidFill>
            <a:srgbClr val="404040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a72d3e55c_3_20"/>
          <p:cNvSpPr/>
          <p:nvPr/>
        </p:nvSpPr>
        <p:spPr>
          <a:xfrm>
            <a:off x="304800" y="877824"/>
            <a:ext cx="36576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B85C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5CB85C"/>
                </a:solidFill>
                <a:latin typeface="Calibri"/>
                <a:ea typeface="Calibri"/>
                <a:cs typeface="Calibri"/>
                <a:sym typeface="Calibri"/>
              </a:rPr>
              <a:t>Worklet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a72d3e55c_3_20"/>
          <p:cNvSpPr/>
          <p:nvPr/>
        </p:nvSpPr>
        <p:spPr>
          <a:xfrm>
            <a:off x="304800" y="1170425"/>
            <a:ext cx="11582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Worklet ID: 25ST31BMS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College Name: B.M.S. College of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a72d3e55c_3_20"/>
          <p:cNvSpPr/>
          <p:nvPr/>
        </p:nvSpPr>
        <p:spPr>
          <a:xfrm>
            <a:off x="9144000" y="6461760"/>
            <a:ext cx="280416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Calibri"/>
              <a:buNone/>
            </a:pPr>
            <a:r>
              <a:rPr b="1" lang="en-IN" sz="19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Date: 27/07/2026</a:t>
            </a:r>
            <a:endParaRPr b="1" sz="19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ea72d3e55c_3_20"/>
          <p:cNvSpPr/>
          <p:nvPr/>
        </p:nvSpPr>
        <p:spPr>
          <a:xfrm>
            <a:off x="21945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a72d3e55c_3_20"/>
          <p:cNvSpPr/>
          <p:nvPr/>
        </p:nvSpPr>
        <p:spPr>
          <a:xfrm>
            <a:off x="40233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Technical Challenges and How Team Solved These: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a72d3e55c_3_20"/>
          <p:cNvSpPr/>
          <p:nvPr/>
        </p:nvSpPr>
        <p:spPr>
          <a:xfrm>
            <a:off x="304800" y="2499350"/>
            <a:ext cx="55473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Soft Sound Misses &amp; Overlapping Audio:</a:t>
            </a:r>
            <a:r>
              <a:rPr lang="en-IN" sz="1100">
                <a:solidFill>
                  <a:schemeClr val="dk1"/>
                </a:solidFill>
              </a:rPr>
              <a:t> Earlier models missed quiet background sounds (e.g., electrical hums) and struggled when non-cooking audio competed with cooking sounds. Resolved by building </a:t>
            </a:r>
            <a:r>
              <a:rPr b="1" lang="en-IN" sz="1100">
                <a:solidFill>
                  <a:schemeClr val="dk1"/>
                </a:solidFill>
              </a:rPr>
              <a:t>kitpri_v4</a:t>
            </a:r>
            <a:r>
              <a:rPr lang="en-IN" sz="1100">
                <a:solidFill>
                  <a:schemeClr val="dk1"/>
                </a:solidFill>
              </a:rPr>
              <a:t> with 7,200 synthetic WAV clips featuring 2–4 layered sounds at varied volumes.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Convolutional Architecture Ceiling:</a:t>
            </a:r>
            <a:r>
              <a:rPr lang="en-IN" sz="1100">
                <a:solidFill>
                  <a:schemeClr val="dk1"/>
                </a:solidFill>
              </a:rPr>
              <a:t> EfficientNet-B0 plateaued at ~0.63–0.68 Test F1 across 6 tuning variants due to 2D CNN filter limits on overlapping audio. Resolved by transitioning to </a:t>
            </a:r>
            <a:r>
              <a:rPr b="1" lang="en-IN" sz="1100">
                <a:solidFill>
                  <a:schemeClr val="dk1"/>
                </a:solidFill>
              </a:rPr>
              <a:t>Audio Spectrogram Transformer (AST)</a:t>
            </a:r>
            <a:r>
              <a:rPr lang="en-IN" sz="1100">
                <a:solidFill>
                  <a:schemeClr val="dk1"/>
                </a:solidFill>
              </a:rPr>
              <a:t> with global self-attention, reaching 0.8129 Test F1.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Edge Deployment Memory Constraints:</a:t>
            </a:r>
            <a:r>
              <a:rPr lang="en-IN" sz="1100">
                <a:solidFill>
                  <a:schemeClr val="dk1"/>
                </a:solidFill>
              </a:rPr>
              <a:t> AST teacher (86.2M params, ~345 MB) far exceeded Samsung's 60 MB RAM budget. Resolved by distilling knowledge into a 40x smaller </a:t>
            </a:r>
            <a:r>
              <a:rPr b="1" lang="en-IN" sz="1100">
                <a:solidFill>
                  <a:schemeClr val="dk1"/>
                </a:solidFill>
              </a:rPr>
              <a:t>MobileNetV2 student</a:t>
            </a:r>
            <a:r>
              <a:rPr lang="en-IN" sz="1100">
                <a:solidFill>
                  <a:schemeClr val="dk1"/>
                </a:solidFill>
              </a:rPr>
              <a:t> (2.22M params), retaining 0.7226 Test F1 at an 8.49 MB FP32 footprint.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Quantization Accuracy Collapse:</a:t>
            </a:r>
            <a:r>
              <a:rPr lang="en-IN" sz="1100">
                <a:solidFill>
                  <a:schemeClr val="dk1"/>
                </a:solidFill>
              </a:rPr>
              <a:t> Initial dynamic quantization failed outright (collapsing model predictions to near-zero) due to uncalibrated activation ranges. Resolved by switching to </a:t>
            </a:r>
            <a:r>
              <a:rPr b="1" lang="en-IN" sz="1100">
                <a:solidFill>
                  <a:schemeClr val="dk1"/>
                </a:solidFill>
              </a:rPr>
              <a:t>static INT8 quantization</a:t>
            </a:r>
            <a:r>
              <a:rPr lang="en-IN" sz="1100">
                <a:solidFill>
                  <a:schemeClr val="dk1"/>
                </a:solidFill>
              </a:rPr>
              <a:t> with a 500-clip calibration pass, reducing size to 2.80 MB (67% reduction) and boosting CPU inference to 25.51 ms/clip without collapse.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solidFill>
                  <a:schemeClr val="dk1"/>
                </a:solidFill>
              </a:rPr>
              <a:t>Overfitting During Extended Epochs:</a:t>
            </a:r>
            <a:r>
              <a:rPr lang="en-IN" sz="1100">
                <a:solidFill>
                  <a:schemeClr val="dk1"/>
                </a:solidFill>
              </a:rPr>
              <a:t> Both teacher and student models overfit in later epochs (train F1 &gt; 0.98 while val F1 dropped). Resolved by applying strict early stopping and selecting optimal validation checkpoints (Epoch 1 for AST, Epoch 8 for MobileNetV2).</a:t>
            </a:r>
            <a:endParaRPr b="1"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ea72d3e55c_3_20"/>
          <p:cNvSpPr/>
          <p:nvPr/>
        </p:nvSpPr>
        <p:spPr>
          <a:xfrm>
            <a:off x="619353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a72d3e55c_3_20"/>
          <p:cNvSpPr/>
          <p:nvPr/>
        </p:nvSpPr>
        <p:spPr>
          <a:xfrm>
            <a:off x="637641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Results Till Now (Evaluated on kitpri_v2 Test Split):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a72d3e55c_3_20"/>
          <p:cNvSpPr/>
          <p:nvPr/>
        </p:nvSpPr>
        <p:spPr>
          <a:xfrm>
            <a:off x="637641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Baseline (EfficientNet-B0):</a:t>
            </a:r>
            <a:r>
              <a:rPr lang="en-IN" sz="1100">
                <a:solidFill>
                  <a:schemeClr val="dk1"/>
                </a:solidFill>
              </a:rPr>
              <a:t> ~0.63–0.68 Test F1 across 6 tuning variants | ~5.3M Parameters.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Teacher Model (AST):</a:t>
            </a:r>
            <a:r>
              <a:rPr lang="en-IN" sz="1100">
                <a:solidFill>
                  <a:schemeClr val="dk1"/>
                </a:solidFill>
              </a:rPr>
              <a:t> 0.8129 Test F1 | 0.8462 Precision | 0.7822 Recall | 82.0% Test Accuracy | 86.2M Parameters (~345 MB).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Student Model (MobileNetV2 FP32 Distilled):</a:t>
            </a:r>
            <a:r>
              <a:rPr lang="en-IN" sz="1100">
                <a:solidFill>
                  <a:schemeClr val="dk1"/>
                </a:solidFill>
              </a:rPr>
              <a:t> 0.7226 Test F1 | 0.7598 Precision | 0.6889 Recall | 73.56% Test Accuracy | 8.49 MB File Size.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Final Deployed Model (MobileNetV2 INT8 Quantized):</a:t>
            </a:r>
            <a:r>
              <a:rPr lang="en-IN" sz="1100">
                <a:solidFill>
                  <a:schemeClr val="dk1"/>
                </a:solidFill>
              </a:rPr>
              <a:t> 0.6910 Test F1 | 0.7634 Precision | 0.6311 Recall | 71.78% Test Accuracy | 2.80 MB File Size | 25.51 ms/clip CPU Latency.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Compute:</a:t>
            </a:r>
            <a:r>
              <a:rPr lang="en-IN" sz="1100">
                <a:solidFill>
                  <a:schemeClr val="dk1"/>
                </a:solidFill>
              </a:rPr>
              <a:t> Kaggle GPU (T4) / local GPU for AST teacher fine-tuning and knowledge distillation; CPU for dataset preprocessing, calibration, export, and Telegram bot inference.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solidFill>
                  <a:schemeClr val="dk1"/>
                </a:solidFill>
              </a:rPr>
              <a:t>Data:</a:t>
            </a:r>
            <a:r>
              <a:rPr lang="en-IN" sz="1100">
                <a:solidFill>
                  <a:schemeClr val="dk1"/>
                </a:solidFill>
              </a:rPr>
              <a:t> </a:t>
            </a:r>
            <a:r>
              <a:rPr b="1" lang="en-IN" sz="1100">
                <a:solidFill>
                  <a:schemeClr val="dk1"/>
                </a:solidFill>
              </a:rPr>
              <a:t>kitpri_v4</a:t>
            </a:r>
            <a:r>
              <a:rPr lang="en-IN" sz="1100">
                <a:solidFill>
                  <a:schemeClr val="dk1"/>
                </a:solidFill>
              </a:rPr>
              <a:t> — 7,200 synthetic 10-second WAV clips (6,300 train / 450 val / 450 test) featuring 2–4 layered audio clips synthesized from ESC-50, FSD50K, AudioSet, MUSAN, and UrbanSound8K at varying SNRs.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a72d3e55c_3_20"/>
          <p:cNvSpPr/>
          <p:nvPr/>
        </p:nvSpPr>
        <p:spPr>
          <a:xfrm>
            <a:off x="1" y="105045"/>
            <a:ext cx="169200" cy="4824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ea72d3e55c_3_20"/>
          <p:cNvSpPr txBox="1"/>
          <p:nvPr/>
        </p:nvSpPr>
        <p:spPr>
          <a:xfrm>
            <a:off x="381897" y="146254"/>
            <a:ext cx="100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0" i="0" lang="en-IN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Deep Learning Model to Classify Kitchen Sounds to Cooking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ea72d3e55c_3_20"/>
          <p:cNvSpPr/>
          <p:nvPr/>
        </p:nvSpPr>
        <p:spPr>
          <a:xfrm>
            <a:off x="237966" y="105045"/>
            <a:ext cx="75300" cy="482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ea72d3e55c_3_20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a72d3e55c_3_37"/>
          <p:cNvSpPr/>
          <p:nvPr/>
        </p:nvSpPr>
        <p:spPr>
          <a:xfrm>
            <a:off x="0" y="877824"/>
            <a:ext cx="12192000" cy="792480"/>
          </a:xfrm>
          <a:prstGeom prst="rect">
            <a:avLst/>
          </a:prstGeom>
          <a:solidFill>
            <a:srgbClr val="404040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a72d3e55c_3_37"/>
          <p:cNvSpPr/>
          <p:nvPr/>
        </p:nvSpPr>
        <p:spPr>
          <a:xfrm>
            <a:off x="304800" y="877824"/>
            <a:ext cx="36576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B85C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5CB85C"/>
                </a:solidFill>
                <a:latin typeface="Calibri"/>
                <a:ea typeface="Calibri"/>
                <a:cs typeface="Calibri"/>
                <a:sym typeface="Calibri"/>
              </a:rPr>
              <a:t>Worklet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a72d3e55c_3_37"/>
          <p:cNvSpPr/>
          <p:nvPr/>
        </p:nvSpPr>
        <p:spPr>
          <a:xfrm>
            <a:off x="304800" y="1170425"/>
            <a:ext cx="11582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Worklet ID: 25ST31BMS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College Name: B.M.S. College of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a72d3e55c_3_37"/>
          <p:cNvSpPr/>
          <p:nvPr/>
        </p:nvSpPr>
        <p:spPr>
          <a:xfrm>
            <a:off x="9144000" y="6461760"/>
            <a:ext cx="280416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Calibri"/>
              <a:buNone/>
            </a:pPr>
            <a:r>
              <a:rPr b="1" lang="en-IN" sz="19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Date: 27/07/2026</a:t>
            </a:r>
            <a:endParaRPr b="1" sz="19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ea72d3e55c_3_37"/>
          <p:cNvSpPr/>
          <p:nvPr/>
        </p:nvSpPr>
        <p:spPr>
          <a:xfrm>
            <a:off x="21945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a72d3e55c_3_37"/>
          <p:cNvSpPr/>
          <p:nvPr/>
        </p:nvSpPr>
        <p:spPr>
          <a:xfrm>
            <a:off x="40233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Observations Based on Results: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a72d3e55c_3_37"/>
          <p:cNvSpPr/>
          <p:nvPr/>
        </p:nvSpPr>
        <p:spPr>
          <a:xfrm>
            <a:off x="40233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Transformers Outperform 2D CNNs: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ViT-based AST teacher achieved 0.8129 Test F1, outperforming EfficientNet-B0 (~0.63–0.68 F1) by ~13–18 percentage points. Self-attention mechanisms are decisive for separating subtle cooking transients from complex, overlapping background noise.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Distillation Enables Edge Feasibility: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Distilling the 86.2M parameter AST teacher into a compact 2.22M parameter MobileNetV2 student retained over 88% of teacher capability (0.7226 Test F1), proving large acoustic transformer representations can be compressed into lightweight edge architectures.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Calibration Prevents Quantization Collapse: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Uncalibrated dynamic quantization caused model failure, whereas static INT8 quantization with a 500-clip calibration pass compressed the payload by 67% (2.80 MB) and accelerated CPU latency by 2.25x (25.51 ms) with minimal F1 degradation.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Multi-Layering Drives Generalization: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Iterating to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kitpri_v4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(7,200 multi-layered synthetic clips) solved early soft sound misses and ensured model resilience against competing non-cooking background noise ("Clip Type C").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a72d3e55c_3_37"/>
          <p:cNvSpPr/>
          <p:nvPr/>
        </p:nvSpPr>
        <p:spPr>
          <a:xfrm>
            <a:off x="619353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a72d3e55c_3_37"/>
          <p:cNvSpPr/>
          <p:nvPr/>
        </p:nvSpPr>
        <p:spPr>
          <a:xfrm>
            <a:off x="637641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Upcoming Month's Plan: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a72d3e55c_3_37"/>
          <p:cNvSpPr/>
          <p:nvPr/>
        </p:nvSpPr>
        <p:spPr>
          <a:xfrm>
            <a:off x="637641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Optimization (&lt;60 MB RAM Budget):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Successfully executed knowledge distillation and static INT8 quantization to produce a 2.80 MB MobileNetV2 artifact (</a:t>
            </a:r>
            <a:r>
              <a:rPr lang="en-IN" sz="13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student_mobilenet_int8.npy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utilizing &lt;5% of Samsung's allocated memory ceiling.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Edge Latency: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Achieved an optimized CPU inference speed of 25.51 ms per 10-second audio clip, easily meeting real-time deployment targets.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Telegram Bot Integration: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Deployed the 2.80 MB INT8 inference backend via ngrok, fully connected to a Telegram bot interface for real-time audio upload, spectrogram extraction, and confidence-scored binary predictions.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Testing &amp; Out-of-Distribution Validation: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Tested the deployment pipeline on real kitchen audio recordings and multi-layered hard cases, confirming robust binary classification performance under real-world acoustic conditions.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a72d3e55c_3_37"/>
          <p:cNvSpPr/>
          <p:nvPr/>
        </p:nvSpPr>
        <p:spPr>
          <a:xfrm>
            <a:off x="1" y="105045"/>
            <a:ext cx="169200" cy="4824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ea72d3e55c_3_37"/>
          <p:cNvSpPr txBox="1"/>
          <p:nvPr/>
        </p:nvSpPr>
        <p:spPr>
          <a:xfrm>
            <a:off x="381897" y="146254"/>
            <a:ext cx="100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0" i="0" lang="en-IN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Deep Learning Model to Classify Kitchen Sounds to Cooking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ea72d3e55c_3_37"/>
          <p:cNvSpPr/>
          <p:nvPr/>
        </p:nvSpPr>
        <p:spPr>
          <a:xfrm>
            <a:off x="237966" y="105045"/>
            <a:ext cx="75300" cy="482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ea72d3e55c_3_37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a72d3e55c_3_54"/>
          <p:cNvSpPr/>
          <p:nvPr/>
        </p:nvSpPr>
        <p:spPr>
          <a:xfrm>
            <a:off x="0" y="877824"/>
            <a:ext cx="12192000" cy="792480"/>
          </a:xfrm>
          <a:prstGeom prst="rect">
            <a:avLst/>
          </a:prstGeom>
          <a:solidFill>
            <a:srgbClr val="404040"/>
          </a:solidFill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a72d3e55c_3_54"/>
          <p:cNvSpPr/>
          <p:nvPr/>
        </p:nvSpPr>
        <p:spPr>
          <a:xfrm>
            <a:off x="304800" y="877824"/>
            <a:ext cx="365760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B85C"/>
              </a:buClr>
              <a:buSzPts val="1500"/>
              <a:buFont typeface="Calibri"/>
              <a:buNone/>
            </a:pPr>
            <a:r>
              <a:rPr b="1" i="0" lang="en-IN" sz="1500" u="none" cap="none" strike="noStrike">
                <a:solidFill>
                  <a:srgbClr val="5CB85C"/>
                </a:solidFill>
                <a:latin typeface="Calibri"/>
                <a:ea typeface="Calibri"/>
                <a:cs typeface="Calibri"/>
                <a:sym typeface="Calibri"/>
              </a:rPr>
              <a:t>Worklet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a72d3e55c_3_54"/>
          <p:cNvSpPr/>
          <p:nvPr/>
        </p:nvSpPr>
        <p:spPr>
          <a:xfrm>
            <a:off x="304800" y="1170425"/>
            <a:ext cx="11582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Worklet ID: 25ST31BMS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I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College Name: B.M.S. College of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a72d3e55c_3_54"/>
          <p:cNvSpPr/>
          <p:nvPr/>
        </p:nvSpPr>
        <p:spPr>
          <a:xfrm>
            <a:off x="9144000" y="6461760"/>
            <a:ext cx="280416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Calibri"/>
              <a:buNone/>
            </a:pPr>
            <a:r>
              <a:rPr b="1" lang="en-IN" sz="19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Date: 27/07/2026</a:t>
            </a:r>
            <a:endParaRPr b="1" sz="19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a72d3e55c_3_54"/>
          <p:cNvSpPr/>
          <p:nvPr/>
        </p:nvSpPr>
        <p:spPr>
          <a:xfrm>
            <a:off x="21945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a72d3e55c_3_54"/>
          <p:cNvSpPr/>
          <p:nvPr/>
        </p:nvSpPr>
        <p:spPr>
          <a:xfrm>
            <a:off x="40233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Resource Requirement Identified with Status: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a72d3e55c_3_54"/>
          <p:cNvSpPr/>
          <p:nvPr/>
        </p:nvSpPr>
        <p:spPr>
          <a:xfrm>
            <a:off x="40233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Cloud and local GPU compute (NVIDIA T4 or higher with $\ge$12 GB VRAM) for Audio Spectrogram Transformer (AST) fine-tuning, MobileNetV2 knowledge distillation, and static INT8 calibration.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Successfully executed training and distillation pipelines using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Kaggle GPUs (NVIDIA T4)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Workstation (NVIDIA RTX A5000 24 GB VRAM, 128 GB RAM)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Preprocessing, audio layering, and dataset generation (KitPri v4) were completed on CPU.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Environment: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Samsung mobile hardware execution environment with a strict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&lt;60 MB RAM budget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Final deployment target fully satisfied with a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2.80 MB INT8 payload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utilizing &lt;5% of the allocated memory limit.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a72d3e55c_3_54"/>
          <p:cNvSpPr/>
          <p:nvPr/>
        </p:nvSpPr>
        <p:spPr>
          <a:xfrm>
            <a:off x="6193536" y="1889760"/>
            <a:ext cx="5754624" cy="4608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a72d3e55c_3_54"/>
          <p:cNvSpPr/>
          <p:nvPr/>
        </p:nvSpPr>
        <p:spPr>
          <a:xfrm>
            <a:off x="6376416" y="2011680"/>
            <a:ext cx="5449824" cy="463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IN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Any Challenges / Issues Faced: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a72d3e55c_3_54"/>
          <p:cNvSpPr/>
          <p:nvPr/>
        </p:nvSpPr>
        <p:spPr>
          <a:xfrm>
            <a:off x="6376416" y="2499360"/>
            <a:ext cx="5449824" cy="39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Memory &amp; Size Constraints (Resolved):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high-performing AST teacher (~345 MB, 86.2M parameters) far exceeded the 60 MB memory ceiling. Overcome by distilling teacher representations into a 40x smaller MobileNetV2 student model (2.22M parameters).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Accuracy Collapse (Resolved):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Initial uncalibrated dynamic quantization attempts caused activation mismatch and model output collapse. Overcome by transitioning to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post-training INT8 quantization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500 calibration clips, successfully reducing footprint to 2.80 MB with negligible performance loss.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Overlapping Audio Transients &amp; Soft Sound Misses (Resolved):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Early dataset iterations missed subtle electrical hums and failed when non-cooking noise competed with cooking audio. Overcome by constructing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KitPri v4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(7,200 synthetic 10-second WAV clips layering multi-source audio at varied SNRs).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Telegram Bot Integration Failure (Resolved):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Previous bot iterations suffered integration and pipeline timeout issues. Overcome by re-architecting an end-to-end ngrok backend that accepts user WAV uploads, extracts mel-spectrogram features, and returns confidence-scored binary predictions in 25.51 ms.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a72d3e55c_3_54"/>
          <p:cNvSpPr/>
          <p:nvPr/>
        </p:nvSpPr>
        <p:spPr>
          <a:xfrm>
            <a:off x="1" y="105045"/>
            <a:ext cx="169200" cy="4824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a72d3e55c_3_54"/>
          <p:cNvSpPr txBox="1"/>
          <p:nvPr/>
        </p:nvSpPr>
        <p:spPr>
          <a:xfrm>
            <a:off x="381897" y="146254"/>
            <a:ext cx="100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0" i="0" lang="en-IN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Deep Learning Model to Classify Kitchen Sounds to Cooking</a:t>
            </a:r>
            <a:endParaRPr b="0" i="0" sz="20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a72d3e55c_3_54"/>
          <p:cNvSpPr/>
          <p:nvPr/>
        </p:nvSpPr>
        <p:spPr>
          <a:xfrm>
            <a:off x="237966" y="105045"/>
            <a:ext cx="75300" cy="482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ea72d3e55c_3_54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/>
          <p:nvPr/>
        </p:nvSpPr>
        <p:spPr>
          <a:xfrm>
            <a:off x="167260" y="4172422"/>
            <a:ext cx="11840400" cy="2263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 Cloud Infrastructure: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Primary serverless GPU platform used for running AST teacher model fine-tuning, knowledge distillation, and student training jobs with auto-scaling compute.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Instances: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for synthetic dataset generation (KitPri v4 - 7,200 clips), mel-spectrogram extraction, 500-clip static quantization calibration, format conversion (</a:t>
            </a:r>
            <a:r>
              <a:rPr lang="en-IN" sz="130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.npy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export), and running the ngrok Telegram bot inference server.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Deployment Environment: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Evaluated on CPU/mobile hardware, satisfying Samsung’s strict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&lt;60 MB RAM budget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2.80 MB INT8 payload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(&lt;5% memory footprint) and real-time inference latency of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25.51 ms per clip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1300" u="none" cap="none" strike="noStrike">
              <a:solidFill>
                <a:srgbClr val="0E40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381897" y="146254"/>
            <a:ext cx="100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0" i="0" lang="en-IN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Deep Learning Model to Classify Kitchen Sounds to Cooking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173127" y="715650"/>
            <a:ext cx="640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i="0" sz="18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3"/>
          <p:cNvPicPr preferRelativeResize="0"/>
          <p:nvPr/>
        </p:nvPicPr>
        <p:blipFill rotWithShape="1">
          <a:blip r:embed="rId3">
            <a:alphaModFix/>
          </a:blip>
          <a:srcRect b="26842" l="4529" r="4175" t="20267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"/>
          <p:cNvSpPr/>
          <p:nvPr/>
        </p:nvSpPr>
        <p:spPr>
          <a:xfrm>
            <a:off x="167250" y="1789325"/>
            <a:ext cx="11840400" cy="2263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Requirement Identified with Status: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Serverless cloud GPU compute (via Modal) with sufficient VRAM for Audio Spectrogram Transformer (AST) fine-tuning, MobileNetV2 knowledge distillation, and static INT8 calibration.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Pipelines fully executed on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Modal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serverless GPU infrastructure. Dataset generation and audio layering (KitPri v4) were completed on CPU.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Environment: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Samsung mobile hardware execution environment with a strict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&lt;60 MB RAM budget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Final deployment target fully satisfied with a </a:t>
            </a:r>
            <a:r>
              <a:rPr b="1"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2.80 MB INT8 payload</a:t>
            </a:r>
            <a:r>
              <a:rPr lang="en-I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utilizing &lt;5% of the allocated memory limit.</a:t>
            </a:r>
            <a:endParaRPr b="1" sz="1300">
              <a:solidFill>
                <a:srgbClr val="0E40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37975" y="1835925"/>
            <a:ext cx="102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Professor Comments (To be filled in and presented by professor (Either)</a:t>
            </a:r>
            <a:endParaRPr b="1" i="0" sz="1800" u="none" cap="none" strike="noStrike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226025" y="4286125"/>
            <a:ext cx="523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COMPUTATION RESOURCE </a:t>
            </a:r>
            <a:endParaRPr b="1" i="0" sz="1800" u="none" cap="none" strike="noStrike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Details:</a:t>
            </a:r>
            <a:endParaRPr b="1" i="0" sz="1800" u="none" cap="none" strike="noStrike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283486" y="1109875"/>
            <a:ext cx="840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25ST31BMS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b="0" i="0" lang="en-I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B.M.S. College of Engineering	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9144000" y="6461760"/>
            <a:ext cx="2804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Calibri"/>
              <a:buNone/>
            </a:pPr>
            <a:r>
              <a:rPr b="1" lang="en-IN" sz="19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Date: 27/07/2026</a:t>
            </a:r>
            <a:endParaRPr b="1" sz="1900">
              <a:solidFill>
                <a:srgbClr val="2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2019-04-12T08:37:01Z</dcterms:created>
  <dc:creator>Saad Hashmi/Tech Mgmt /SRI-Bangalore/Professional/삼성전자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