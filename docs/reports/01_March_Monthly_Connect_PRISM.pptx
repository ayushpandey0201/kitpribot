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e081c30d0_2_75:notes"/>
          <p:cNvSpPr txBox="1"/>
          <p:nvPr>
            <p:ph idx="1" type="body"/>
          </p:nvPr>
        </p:nvSpPr>
        <p:spPr>
          <a:xfrm>
            <a:off x="685801"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ce081c30d0_2_75:notes"/>
          <p:cNvSpPr/>
          <p:nvPr>
            <p:ph idx="2" type="sldImg"/>
          </p:nvPr>
        </p:nvSpPr>
        <p:spPr>
          <a:xfrm>
            <a:off x="426022" y="1143366"/>
            <a:ext cx="6005955" cy="308504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e081c30d0_2_99:notes"/>
          <p:cNvSpPr txBox="1"/>
          <p:nvPr>
            <p:ph idx="1" type="body"/>
          </p:nvPr>
        </p:nvSpPr>
        <p:spPr>
          <a:xfrm>
            <a:off x="685801"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ce081c30d0_2_99:notes"/>
          <p:cNvSpPr/>
          <p:nvPr>
            <p:ph idx="2" type="sldImg"/>
          </p:nvPr>
        </p:nvSpPr>
        <p:spPr>
          <a:xfrm>
            <a:off x="426022" y="1143366"/>
            <a:ext cx="6005955" cy="308504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ce081c30d0_2_122:notes"/>
          <p:cNvSpPr txBox="1"/>
          <p:nvPr>
            <p:ph idx="1" type="body"/>
          </p:nvPr>
        </p:nvSpPr>
        <p:spPr>
          <a:xfrm>
            <a:off x="685801"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ce081c30d0_2_122:notes"/>
          <p:cNvSpPr/>
          <p:nvPr>
            <p:ph idx="2" type="sldImg"/>
          </p:nvPr>
        </p:nvSpPr>
        <p:spPr>
          <a:xfrm>
            <a:off x="426022" y="1143366"/>
            <a:ext cx="6005955" cy="308504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p1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sp>
        <p:nvSpPr>
          <p:cNvPr id="63" name="Google Shape;63;p1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125446" y="525309"/>
            <a:ext cx="8880380" cy="693105"/>
          </a:xfrm>
          <a:prstGeom prst="rect">
            <a:avLst/>
          </a:prstGeom>
          <a:solidFill>
            <a:srgbClr val="3F3F3F"/>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0" name="Google Shape;130;p25"/>
          <p:cNvSpPr/>
          <p:nvPr/>
        </p:nvSpPr>
        <p:spPr>
          <a:xfrm>
            <a:off x="1" y="78784"/>
            <a:ext cx="126999" cy="361898"/>
          </a:xfrm>
          <a:prstGeom prst="rect">
            <a:avLst/>
          </a:prstGeom>
          <a:solidFill>
            <a:srgbClr val="0E409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1" name="Google Shape;131;p25"/>
          <p:cNvSpPr txBox="1"/>
          <p:nvPr/>
        </p:nvSpPr>
        <p:spPr>
          <a:xfrm>
            <a:off x="286423" y="109691"/>
            <a:ext cx="7517507" cy="300083"/>
          </a:xfrm>
          <a:prstGeom prst="rect">
            <a:avLst/>
          </a:prstGeom>
          <a:noFill/>
          <a:ln>
            <a:noFill/>
          </a:ln>
        </p:spPr>
        <p:txBody>
          <a:bodyPr anchorCtr="0" anchor="ctr" bIns="34275" lIns="68575" spcFirstLastPara="1" rIns="68575" wrap="square" tIns="34275">
            <a:spAutoFit/>
          </a:bodyPr>
          <a:lstStyle/>
          <a:p>
            <a:pPr indent="0" lvl="0" marL="0" marR="0" rtl="0" algn="l">
              <a:spcBef>
                <a:spcPts val="0"/>
              </a:spcBef>
              <a:spcAft>
                <a:spcPts val="0"/>
              </a:spcAft>
              <a:buNone/>
            </a:pPr>
            <a:r>
              <a:rPr b="0" i="0" lang="en" sz="1500" u="none" cap="none" strike="noStrike">
                <a:solidFill>
                  <a:schemeClr val="dk1"/>
                </a:solidFill>
                <a:latin typeface="Arial"/>
                <a:ea typeface="Arial"/>
                <a:cs typeface="Arial"/>
                <a:sym typeface="Arial"/>
              </a:rPr>
              <a:t>Work-let Name: </a:t>
            </a:r>
            <a:r>
              <a:rPr b="0" i="0" lang="en" sz="1400" u="none" cap="none" strike="noStrike">
                <a:solidFill>
                  <a:schemeClr val="dk1"/>
                </a:solidFill>
                <a:latin typeface="Calibri"/>
                <a:ea typeface="Calibri"/>
                <a:cs typeface="Calibri"/>
                <a:sym typeface="Calibri"/>
              </a:rPr>
              <a:t>Deep Learning Model to Classify Kitchen Sounds to Cooking</a:t>
            </a:r>
            <a:endParaRPr sz="1500">
              <a:solidFill>
                <a:srgbClr val="7F7F7F"/>
              </a:solidFill>
              <a:latin typeface="Arial"/>
              <a:ea typeface="Arial"/>
              <a:cs typeface="Arial"/>
              <a:sym typeface="Arial"/>
            </a:endParaRPr>
          </a:p>
        </p:txBody>
      </p:sp>
      <p:sp>
        <p:nvSpPr>
          <p:cNvPr id="132" name="Google Shape;132;p25"/>
          <p:cNvSpPr/>
          <p:nvPr/>
        </p:nvSpPr>
        <p:spPr>
          <a:xfrm>
            <a:off x="178475" y="78784"/>
            <a:ext cx="56475" cy="361898"/>
          </a:xfrm>
          <a:prstGeom prst="rect">
            <a:avLst/>
          </a:prstGeom>
          <a:solidFill>
            <a:srgbClr val="BFBFB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3" name="Google Shape;133;p25"/>
          <p:cNvSpPr/>
          <p:nvPr/>
        </p:nvSpPr>
        <p:spPr>
          <a:xfrm>
            <a:off x="129889" y="536750"/>
            <a:ext cx="3973800" cy="276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chemeClr val="accent6"/>
                </a:solidFill>
                <a:latin typeface="Arial"/>
                <a:ea typeface="Arial"/>
                <a:cs typeface="Arial"/>
                <a:sym typeface="Arial"/>
              </a:rPr>
              <a:t>Worklet Details</a:t>
            </a:r>
            <a:endParaRPr sz="1100"/>
          </a:p>
        </p:txBody>
      </p:sp>
      <p:sp>
        <p:nvSpPr>
          <p:cNvPr id="134" name="Google Shape;134;p25"/>
          <p:cNvSpPr/>
          <p:nvPr/>
        </p:nvSpPr>
        <p:spPr>
          <a:xfrm>
            <a:off x="212598" y="832400"/>
            <a:ext cx="3125396" cy="392415"/>
          </a:xfrm>
          <a:prstGeom prst="rect">
            <a:avLst/>
          </a:prstGeom>
          <a:noFill/>
          <a:ln>
            <a:noFill/>
          </a:ln>
        </p:spPr>
        <p:txBody>
          <a:bodyPr anchorCtr="0" anchor="t" bIns="34275" lIns="68575" spcFirstLastPara="1" rIns="68575" wrap="square" tIns="34275">
            <a:noAutofit/>
          </a:bodyPr>
          <a:lstStyle/>
          <a:p>
            <a:pPr indent="-171450" lvl="0" marL="177800" marR="0" rtl="0" algn="l">
              <a:spcBef>
                <a:spcPts val="0"/>
              </a:spcBef>
              <a:spcAft>
                <a:spcPts val="0"/>
              </a:spcAft>
              <a:buClr>
                <a:schemeClr val="lt1"/>
              </a:buClr>
              <a:buSzPts val="900"/>
              <a:buFont typeface="Arial"/>
              <a:buAutoNum type="arabicPeriod"/>
            </a:pPr>
            <a:r>
              <a:rPr lang="en" sz="900">
                <a:solidFill>
                  <a:schemeClr val="lt1"/>
                </a:solidFill>
                <a:latin typeface="Arial"/>
                <a:ea typeface="Arial"/>
                <a:cs typeface="Arial"/>
                <a:sym typeface="Arial"/>
              </a:rPr>
              <a:t>Worklet ID: </a:t>
            </a:r>
            <a:r>
              <a:rPr lang="en" sz="1100">
                <a:solidFill>
                  <a:schemeClr val="lt1"/>
                </a:solidFill>
                <a:latin typeface="Calibri"/>
                <a:ea typeface="Calibri"/>
                <a:cs typeface="Calibri"/>
                <a:sym typeface="Calibri"/>
              </a:rPr>
              <a:t>25ST31BMS</a:t>
            </a:r>
            <a:endParaRPr sz="900">
              <a:solidFill>
                <a:schemeClr val="lt1"/>
              </a:solidFill>
              <a:latin typeface="Arial"/>
              <a:ea typeface="Arial"/>
              <a:cs typeface="Arial"/>
              <a:sym typeface="Arial"/>
            </a:endParaRPr>
          </a:p>
          <a:p>
            <a:pPr indent="-171450" lvl="0" marL="177800" marR="0" rtl="0" algn="l">
              <a:spcBef>
                <a:spcPts val="0"/>
              </a:spcBef>
              <a:spcAft>
                <a:spcPts val="0"/>
              </a:spcAft>
              <a:buClr>
                <a:schemeClr val="lt1"/>
              </a:buClr>
              <a:buSzPts val="900"/>
              <a:buFont typeface="Arial"/>
              <a:buAutoNum type="arabicPeriod"/>
            </a:pPr>
            <a:r>
              <a:rPr lang="en" sz="900">
                <a:solidFill>
                  <a:schemeClr val="lt1"/>
                </a:solidFill>
                <a:latin typeface="Arial"/>
                <a:ea typeface="Arial"/>
                <a:cs typeface="Arial"/>
                <a:sym typeface="Arial"/>
              </a:rPr>
              <a:t>College Name: </a:t>
            </a:r>
            <a:r>
              <a:rPr lang="en" sz="1100">
                <a:solidFill>
                  <a:schemeClr val="lt1"/>
                </a:solidFill>
                <a:latin typeface="Arial"/>
                <a:ea typeface="Arial"/>
                <a:cs typeface="Arial"/>
                <a:sym typeface="Arial"/>
              </a:rPr>
              <a:t>BMS College of Engineering</a:t>
            </a:r>
            <a:endParaRPr sz="900">
              <a:solidFill>
                <a:schemeClr val="lt1"/>
              </a:solidFill>
              <a:latin typeface="Arial"/>
              <a:ea typeface="Arial"/>
              <a:cs typeface="Arial"/>
              <a:sym typeface="Arial"/>
            </a:endParaRPr>
          </a:p>
        </p:txBody>
      </p:sp>
      <p:pic>
        <p:nvPicPr>
          <p:cNvPr id="135" name="Google Shape;135;p25"/>
          <p:cNvPicPr preferRelativeResize="0"/>
          <p:nvPr/>
        </p:nvPicPr>
        <p:blipFill rotWithShape="1">
          <a:blip r:embed="rId3">
            <a:alphaModFix/>
          </a:blip>
          <a:srcRect b="26842" l="4529" r="4175" t="20267"/>
          <a:stretch/>
        </p:blipFill>
        <p:spPr>
          <a:xfrm>
            <a:off x="8206561" y="78784"/>
            <a:ext cx="937438" cy="356183"/>
          </a:xfrm>
          <a:prstGeom prst="rect">
            <a:avLst/>
          </a:prstGeom>
          <a:noFill/>
          <a:ln>
            <a:noFill/>
          </a:ln>
        </p:spPr>
      </p:pic>
      <p:sp>
        <p:nvSpPr>
          <p:cNvPr id="136" name="Google Shape;136;p25"/>
          <p:cNvSpPr/>
          <p:nvPr/>
        </p:nvSpPr>
        <p:spPr>
          <a:xfrm>
            <a:off x="125447" y="3146368"/>
            <a:ext cx="4400834" cy="1611059"/>
          </a:xfrm>
          <a:prstGeom prst="rect">
            <a:avLst/>
          </a:prstGeom>
          <a:solidFill>
            <a:srgbClr val="D8D8D8"/>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7" name="Google Shape;137;p25"/>
          <p:cNvSpPr/>
          <p:nvPr/>
        </p:nvSpPr>
        <p:spPr>
          <a:xfrm>
            <a:off x="125446" y="1527842"/>
            <a:ext cx="4400834" cy="1489943"/>
          </a:xfrm>
          <a:prstGeom prst="rect">
            <a:avLst/>
          </a:prstGeom>
          <a:solidFill>
            <a:srgbClr val="D8D8D8"/>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1" marL="76200" marR="0" rtl="0" algn="l">
              <a:spcBef>
                <a:spcPts val="0"/>
              </a:spcBef>
              <a:spcAft>
                <a:spcPts val="0"/>
              </a:spcAft>
              <a:buNone/>
            </a:pPr>
            <a:r>
              <a:t/>
            </a:r>
            <a:endParaRPr b="1" i="0" sz="1100" u="none" cap="none" strike="noStrike">
              <a:solidFill>
                <a:srgbClr val="0E4094"/>
              </a:solidFill>
              <a:latin typeface="Arial"/>
              <a:ea typeface="Arial"/>
              <a:cs typeface="Arial"/>
              <a:sym typeface="Arial"/>
            </a:endParaRPr>
          </a:p>
        </p:txBody>
      </p:sp>
      <p:sp>
        <p:nvSpPr>
          <p:cNvPr id="138" name="Google Shape;138;p25"/>
          <p:cNvSpPr/>
          <p:nvPr/>
        </p:nvSpPr>
        <p:spPr>
          <a:xfrm>
            <a:off x="125447" y="3196577"/>
            <a:ext cx="4400834" cy="80791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0E4094"/>
                </a:solidFill>
                <a:latin typeface="Arial"/>
                <a:ea typeface="Arial"/>
                <a:cs typeface="Arial"/>
                <a:sym typeface="Arial"/>
              </a:rPr>
              <a:t>Next Steps </a:t>
            </a:r>
            <a:endParaRPr sz="1100"/>
          </a:p>
          <a:p>
            <a:pPr indent="0" lvl="0" marL="0" marR="0" rtl="0" algn="l">
              <a:spcBef>
                <a:spcPts val="0"/>
              </a:spcBef>
              <a:spcAft>
                <a:spcPts val="0"/>
              </a:spcAft>
              <a:buNone/>
            </a:pPr>
            <a:r>
              <a:t/>
            </a:r>
            <a:endParaRPr b="1" sz="1400">
              <a:solidFill>
                <a:srgbClr val="0E4094"/>
              </a:solidFill>
              <a:latin typeface="Arial"/>
              <a:ea typeface="Arial"/>
              <a:cs typeface="Arial"/>
              <a:sym typeface="Arial"/>
            </a:endParaRPr>
          </a:p>
          <a:p>
            <a:pPr indent="-203200" lvl="0" marL="203200" marR="0" rtl="0" algn="l">
              <a:spcBef>
                <a:spcPts val="0"/>
              </a:spcBef>
              <a:spcAft>
                <a:spcPts val="0"/>
              </a:spcAft>
              <a:buNone/>
            </a:pPr>
            <a:r>
              <a:t/>
            </a:r>
            <a:endParaRPr b="1" sz="1100">
              <a:solidFill>
                <a:srgbClr val="0E4094"/>
              </a:solidFill>
              <a:latin typeface="Arial"/>
              <a:ea typeface="Arial"/>
              <a:cs typeface="Arial"/>
              <a:sym typeface="Arial"/>
            </a:endParaRPr>
          </a:p>
          <a:p>
            <a:pPr indent="0" lvl="0" marL="0" marR="0" rtl="0" algn="l">
              <a:spcBef>
                <a:spcPts val="0"/>
              </a:spcBef>
              <a:spcAft>
                <a:spcPts val="0"/>
              </a:spcAft>
              <a:buNone/>
            </a:pPr>
            <a:r>
              <a:t/>
            </a:r>
            <a:endParaRPr b="1" sz="1100">
              <a:solidFill>
                <a:srgbClr val="0E4094"/>
              </a:solidFill>
              <a:latin typeface="Arial"/>
              <a:ea typeface="Arial"/>
              <a:cs typeface="Arial"/>
              <a:sym typeface="Arial"/>
            </a:endParaRPr>
          </a:p>
        </p:txBody>
      </p:sp>
      <p:sp>
        <p:nvSpPr>
          <p:cNvPr id="139" name="Google Shape;139;p25"/>
          <p:cNvSpPr/>
          <p:nvPr/>
        </p:nvSpPr>
        <p:spPr>
          <a:xfrm>
            <a:off x="178474" y="1527850"/>
            <a:ext cx="2745000" cy="276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0E4094"/>
                </a:solidFill>
                <a:latin typeface="Arial"/>
                <a:ea typeface="Arial"/>
                <a:cs typeface="Arial"/>
                <a:sym typeface="Arial"/>
              </a:rPr>
              <a:t>KPIs achieved till now</a:t>
            </a:r>
            <a:endParaRPr sz="1100"/>
          </a:p>
        </p:txBody>
      </p:sp>
      <p:sp>
        <p:nvSpPr>
          <p:cNvPr id="140" name="Google Shape;140;p25"/>
          <p:cNvSpPr/>
          <p:nvPr/>
        </p:nvSpPr>
        <p:spPr>
          <a:xfrm>
            <a:off x="4604993" y="3153823"/>
            <a:ext cx="4400834" cy="1611059"/>
          </a:xfrm>
          <a:prstGeom prst="rect">
            <a:avLst/>
          </a:prstGeom>
          <a:solidFill>
            <a:srgbClr val="D8D8D8"/>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41" name="Google Shape;141;p25"/>
          <p:cNvSpPr/>
          <p:nvPr/>
        </p:nvSpPr>
        <p:spPr>
          <a:xfrm>
            <a:off x="4605004" y="3207775"/>
            <a:ext cx="4255200" cy="276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0E4094"/>
                </a:solidFill>
                <a:latin typeface="Arial"/>
                <a:ea typeface="Arial"/>
                <a:cs typeface="Arial"/>
                <a:sym typeface="Arial"/>
              </a:rPr>
              <a:t>Key Achievements/ Outcome till now</a:t>
            </a:r>
            <a:endParaRPr sz="1100"/>
          </a:p>
        </p:txBody>
      </p:sp>
      <p:sp>
        <p:nvSpPr>
          <p:cNvPr id="142" name="Google Shape;142;p25"/>
          <p:cNvSpPr/>
          <p:nvPr/>
        </p:nvSpPr>
        <p:spPr>
          <a:xfrm>
            <a:off x="4635783" y="1527842"/>
            <a:ext cx="4400834" cy="1489944"/>
          </a:xfrm>
          <a:prstGeom prst="rect">
            <a:avLst/>
          </a:prstGeom>
          <a:solidFill>
            <a:srgbClr val="D8D8D8"/>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b="1" sz="900">
              <a:solidFill>
                <a:srgbClr val="0E4094"/>
              </a:solidFill>
              <a:latin typeface="Arial"/>
              <a:ea typeface="Arial"/>
              <a:cs typeface="Arial"/>
              <a:sym typeface="Arial"/>
            </a:endParaRPr>
          </a:p>
        </p:txBody>
      </p:sp>
      <p:sp>
        <p:nvSpPr>
          <p:cNvPr id="143" name="Google Shape;143;p25"/>
          <p:cNvSpPr/>
          <p:nvPr/>
        </p:nvSpPr>
        <p:spPr>
          <a:xfrm>
            <a:off x="4605006" y="1587225"/>
            <a:ext cx="4201200" cy="276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0E4094"/>
                </a:solidFill>
                <a:latin typeface="Arial"/>
                <a:ea typeface="Arial"/>
                <a:cs typeface="Arial"/>
                <a:sym typeface="Arial"/>
              </a:rPr>
              <a:t>Any Challenges/ Issues faced</a:t>
            </a:r>
            <a:endParaRPr sz="1100"/>
          </a:p>
        </p:txBody>
      </p:sp>
      <p:sp>
        <p:nvSpPr>
          <p:cNvPr id="144" name="Google Shape;144;p25"/>
          <p:cNvSpPr txBox="1"/>
          <p:nvPr/>
        </p:nvSpPr>
        <p:spPr>
          <a:xfrm>
            <a:off x="7530084" y="4866894"/>
            <a:ext cx="1614000" cy="284700"/>
          </a:xfrm>
          <a:prstGeom prst="rect">
            <a:avLst/>
          </a:prstGeom>
          <a:noFill/>
          <a:ln>
            <a:noFill/>
          </a:ln>
        </p:spPr>
        <p:txBody>
          <a:bodyPr anchorCtr="0" anchor="ctr"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Date: </a:t>
            </a:r>
            <a:r>
              <a:rPr lang="en">
                <a:solidFill>
                  <a:schemeClr val="dk1"/>
                </a:solidFill>
              </a:rPr>
              <a:t>09/03/2026</a:t>
            </a:r>
            <a:endParaRPr sz="1400">
              <a:solidFill>
                <a:srgbClr val="7F7F7F"/>
              </a:solidFill>
              <a:latin typeface="Arial"/>
              <a:ea typeface="Arial"/>
              <a:cs typeface="Arial"/>
              <a:sym typeface="Arial"/>
            </a:endParaRPr>
          </a:p>
        </p:txBody>
      </p:sp>
      <p:sp>
        <p:nvSpPr>
          <p:cNvPr id="145" name="Google Shape;145;p25"/>
          <p:cNvSpPr/>
          <p:nvPr/>
        </p:nvSpPr>
        <p:spPr>
          <a:xfrm>
            <a:off x="178474" y="1859646"/>
            <a:ext cx="4255277" cy="1038746"/>
          </a:xfrm>
          <a:prstGeom prst="rect">
            <a:avLst/>
          </a:prstGeom>
          <a:noFill/>
          <a:ln>
            <a:noFill/>
          </a:ln>
        </p:spPr>
        <p:txBody>
          <a:bodyPr anchorCtr="0" anchor="ctr" bIns="34275" lIns="68575" spcFirstLastPara="1" rIns="68575" wrap="square" tIns="34275">
            <a:noAutofit/>
          </a:bodyPr>
          <a:lstStyle/>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Implemented </a:t>
            </a:r>
            <a:r>
              <a:rPr b="1" i="0" lang="en" sz="1050" u="none" cap="none" strike="noStrike">
                <a:solidFill>
                  <a:srgbClr val="0E4094"/>
                </a:solidFill>
                <a:latin typeface="Arial"/>
                <a:ea typeface="Arial"/>
                <a:cs typeface="Arial"/>
                <a:sym typeface="Arial"/>
              </a:rPr>
              <a:t>audio preprocessing pipeline using Librosa</a:t>
            </a:r>
            <a:r>
              <a:rPr b="0" i="0" lang="en" sz="1050" u="none" cap="none" strike="noStrike">
                <a:solidFill>
                  <a:srgbClr val="0E4094"/>
                </a:solidFill>
                <a:latin typeface="Arial"/>
                <a:ea typeface="Arial"/>
                <a:cs typeface="Arial"/>
                <a:sym typeface="Arial"/>
              </a:rPr>
              <a:t>.</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Generated </a:t>
            </a:r>
            <a:r>
              <a:rPr b="1" i="0" lang="en" sz="1050" u="none" cap="none" strike="noStrike">
                <a:solidFill>
                  <a:srgbClr val="0E4094"/>
                </a:solidFill>
                <a:latin typeface="Arial"/>
                <a:ea typeface="Arial"/>
                <a:cs typeface="Arial"/>
                <a:sym typeface="Arial"/>
              </a:rPr>
              <a:t>Log-Mel spectrogram representations</a:t>
            </a:r>
            <a:r>
              <a:rPr b="0" i="0" lang="en" sz="1050" u="none" cap="none" strike="noStrike">
                <a:solidFill>
                  <a:srgbClr val="0E4094"/>
                </a:solidFill>
                <a:latin typeface="Arial"/>
                <a:ea typeface="Arial"/>
                <a:cs typeface="Arial"/>
                <a:sym typeface="Arial"/>
              </a:rPr>
              <a:t> for audio samples.</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Integrated </a:t>
            </a:r>
            <a:r>
              <a:rPr b="1" i="0" lang="en" sz="1050" u="none" cap="none" strike="noStrike">
                <a:solidFill>
                  <a:srgbClr val="0E4094"/>
                </a:solidFill>
                <a:latin typeface="Arial"/>
                <a:ea typeface="Arial"/>
                <a:cs typeface="Arial"/>
                <a:sym typeface="Arial"/>
              </a:rPr>
              <a:t>YAMNet pretrained model</a:t>
            </a:r>
            <a:r>
              <a:rPr b="0" i="0" lang="en" sz="1050" u="none" cap="none" strike="noStrike">
                <a:solidFill>
                  <a:srgbClr val="0E4094"/>
                </a:solidFill>
                <a:latin typeface="Arial"/>
                <a:ea typeface="Arial"/>
                <a:cs typeface="Arial"/>
                <a:sym typeface="Arial"/>
              </a:rPr>
              <a:t> for audio event inference.</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Successfully tested predictions on sample audio recordings.</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Established </a:t>
            </a:r>
            <a:r>
              <a:rPr b="1" i="0" lang="en" sz="1050" u="none" cap="none" strike="noStrike">
                <a:solidFill>
                  <a:srgbClr val="0E4094"/>
                </a:solidFill>
                <a:latin typeface="Arial"/>
                <a:ea typeface="Arial"/>
                <a:cs typeface="Arial"/>
                <a:sym typeface="Arial"/>
              </a:rPr>
              <a:t>initial project architecture using YAMNet embeddings for classification</a:t>
            </a:r>
            <a:r>
              <a:rPr b="0" i="0" lang="en" sz="1050" u="none" cap="none" strike="noStrike">
                <a:solidFill>
                  <a:srgbClr val="0E4094"/>
                </a:solidFill>
                <a:latin typeface="Arial"/>
                <a:ea typeface="Arial"/>
                <a:cs typeface="Arial"/>
                <a:sym typeface="Arial"/>
              </a:rPr>
              <a:t>.</a:t>
            </a:r>
            <a:endParaRPr sz="1050"/>
          </a:p>
        </p:txBody>
      </p:sp>
      <p:sp>
        <p:nvSpPr>
          <p:cNvPr id="146" name="Google Shape;146;p25"/>
          <p:cNvSpPr/>
          <p:nvPr/>
        </p:nvSpPr>
        <p:spPr>
          <a:xfrm>
            <a:off x="4635783" y="1918180"/>
            <a:ext cx="4052438" cy="1038746"/>
          </a:xfrm>
          <a:prstGeom prst="rect">
            <a:avLst/>
          </a:prstGeom>
          <a:noFill/>
          <a:ln>
            <a:noFill/>
          </a:ln>
        </p:spPr>
        <p:txBody>
          <a:bodyPr anchorCtr="0" anchor="ctr" bIns="34275" lIns="68575" spcFirstLastPara="1" rIns="68575" wrap="square" tIns="34275">
            <a:noAutofit/>
          </a:bodyPr>
          <a:lstStyle/>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Difficulty in </a:t>
            </a:r>
            <a:r>
              <a:rPr b="1" i="0" lang="en" sz="1050" u="none" cap="none" strike="noStrike">
                <a:solidFill>
                  <a:srgbClr val="0E4094"/>
                </a:solidFill>
                <a:latin typeface="Arial"/>
                <a:ea typeface="Arial"/>
                <a:cs typeface="Arial"/>
                <a:sym typeface="Arial"/>
              </a:rPr>
              <a:t>automated dataset download</a:t>
            </a:r>
            <a:r>
              <a:rPr b="0" i="0" lang="en" sz="1050" u="none" cap="none" strike="noStrike">
                <a:solidFill>
                  <a:srgbClr val="0E4094"/>
                </a:solidFill>
                <a:latin typeface="Arial"/>
                <a:ea typeface="Arial"/>
                <a:cs typeface="Arial"/>
                <a:sym typeface="Arial"/>
              </a:rPr>
              <a:t> due to platform restrictions and authentication requirements.</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Limited availability of </a:t>
            </a:r>
            <a:r>
              <a:rPr b="1" i="0" lang="en" sz="1050" u="none" cap="none" strike="noStrike">
                <a:solidFill>
                  <a:srgbClr val="0E4094"/>
                </a:solidFill>
                <a:latin typeface="Arial"/>
                <a:ea typeface="Arial"/>
                <a:cs typeface="Arial"/>
                <a:sym typeface="Arial"/>
              </a:rPr>
              <a:t>clean kitchen-specific audio datasets</a:t>
            </a:r>
            <a:r>
              <a:rPr b="0" i="0" lang="en" sz="1050" u="none" cap="none" strike="noStrike">
                <a:solidFill>
                  <a:srgbClr val="0E4094"/>
                </a:solidFill>
                <a:latin typeface="Arial"/>
                <a:ea typeface="Arial"/>
                <a:cs typeface="Arial"/>
                <a:sym typeface="Arial"/>
              </a:rPr>
              <a:t>.</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Need to manually curate audio samples to ensure </a:t>
            </a:r>
            <a:r>
              <a:rPr b="1" i="0" lang="en" sz="1050" u="none" cap="none" strike="noStrike">
                <a:solidFill>
                  <a:srgbClr val="0E4094"/>
                </a:solidFill>
                <a:latin typeface="Arial"/>
                <a:ea typeface="Arial"/>
                <a:cs typeface="Arial"/>
                <a:sym typeface="Arial"/>
              </a:rPr>
              <a:t>relevant cooking sound events</a:t>
            </a:r>
            <a:r>
              <a:rPr b="0" i="0" lang="en" sz="1050" u="none" cap="none" strike="noStrike">
                <a:solidFill>
                  <a:srgbClr val="0E4094"/>
                </a:solidFill>
                <a:latin typeface="Arial"/>
                <a:ea typeface="Arial"/>
                <a:cs typeface="Arial"/>
                <a:sym typeface="Arial"/>
              </a:rPr>
              <a:t>.</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Managing overlapping sound events in environmental audio.</a:t>
            </a:r>
            <a:endParaRPr sz="1050"/>
          </a:p>
        </p:txBody>
      </p:sp>
      <p:sp>
        <p:nvSpPr>
          <p:cNvPr id="147" name="Google Shape;147;p25"/>
          <p:cNvSpPr/>
          <p:nvPr/>
        </p:nvSpPr>
        <p:spPr>
          <a:xfrm>
            <a:off x="125446" y="3445724"/>
            <a:ext cx="4201200" cy="1362000"/>
          </a:xfrm>
          <a:prstGeom prst="rect">
            <a:avLst/>
          </a:prstGeom>
          <a:noFill/>
          <a:ln>
            <a:noFill/>
          </a:ln>
        </p:spPr>
        <p:txBody>
          <a:bodyPr anchorCtr="0" anchor="ctr" bIns="34275" lIns="68575" spcFirstLastPara="1" rIns="68575" wrap="square" tIns="34275">
            <a:noAutofit/>
          </a:bodyPr>
          <a:lstStyle/>
          <a:p>
            <a:pPr indent="-215900" lvl="0" marL="215900" marR="0" rtl="0" algn="just">
              <a:lnSpc>
                <a:spcPct val="100000"/>
              </a:lnSpc>
              <a:spcBef>
                <a:spcPts val="0"/>
              </a:spcBef>
              <a:spcAft>
                <a:spcPts val="0"/>
              </a:spcAft>
              <a:buClr>
                <a:srgbClr val="0E4094"/>
              </a:buClr>
              <a:buSzPts val="1000"/>
              <a:buFont typeface="Arial"/>
              <a:buChar char="•"/>
            </a:pPr>
            <a:r>
              <a:rPr b="0" i="0" lang="en" sz="1000" u="none" cap="none" strike="noStrike">
                <a:solidFill>
                  <a:srgbClr val="0E4094"/>
                </a:solidFill>
                <a:latin typeface="Arial"/>
                <a:ea typeface="Arial"/>
                <a:cs typeface="Arial"/>
                <a:sym typeface="Arial"/>
              </a:rPr>
              <a:t>Collect a larger dataset of </a:t>
            </a:r>
            <a:r>
              <a:rPr b="1" i="0" lang="en" sz="1000" u="none" cap="none" strike="noStrike">
                <a:solidFill>
                  <a:srgbClr val="0E4094"/>
                </a:solidFill>
                <a:latin typeface="Arial"/>
                <a:ea typeface="Arial"/>
                <a:cs typeface="Arial"/>
                <a:sym typeface="Arial"/>
              </a:rPr>
              <a:t>cooking and non-cooking audio samples</a:t>
            </a:r>
            <a:r>
              <a:rPr b="0" i="0" lang="en" sz="1000" u="none" cap="none" strike="noStrike">
                <a:solidFill>
                  <a:srgbClr val="0E4094"/>
                </a:solidFill>
                <a:latin typeface="Arial"/>
                <a:ea typeface="Arial"/>
                <a:cs typeface="Arial"/>
                <a:sym typeface="Arial"/>
              </a:rPr>
              <a:t>.</a:t>
            </a:r>
            <a:endParaRPr sz="1000"/>
          </a:p>
          <a:p>
            <a:pPr indent="-215900" lvl="0" marL="215900" marR="0" rtl="0" algn="just">
              <a:lnSpc>
                <a:spcPct val="100000"/>
              </a:lnSpc>
              <a:spcBef>
                <a:spcPts val="0"/>
              </a:spcBef>
              <a:spcAft>
                <a:spcPts val="0"/>
              </a:spcAft>
              <a:buClr>
                <a:srgbClr val="0E4094"/>
              </a:buClr>
              <a:buSzPts val="1000"/>
              <a:buFont typeface="Arial"/>
              <a:buChar char="•"/>
            </a:pPr>
            <a:r>
              <a:rPr b="0" i="0" lang="en" sz="1000" u="none" cap="none" strike="noStrike">
                <a:solidFill>
                  <a:srgbClr val="0E4094"/>
                </a:solidFill>
                <a:latin typeface="Arial"/>
                <a:ea typeface="Arial"/>
                <a:cs typeface="Arial"/>
                <a:sym typeface="Arial"/>
              </a:rPr>
              <a:t>Extract </a:t>
            </a:r>
            <a:r>
              <a:rPr b="1" i="0" lang="en" sz="1000" u="none" cap="none" strike="noStrike">
                <a:solidFill>
                  <a:srgbClr val="0E4094"/>
                </a:solidFill>
                <a:latin typeface="Arial"/>
                <a:ea typeface="Arial"/>
                <a:cs typeface="Arial"/>
                <a:sym typeface="Arial"/>
              </a:rPr>
              <a:t>YAMNet embeddings</a:t>
            </a:r>
            <a:r>
              <a:rPr b="0" i="0" lang="en" sz="1000" u="none" cap="none" strike="noStrike">
                <a:solidFill>
                  <a:srgbClr val="0E4094"/>
                </a:solidFill>
                <a:latin typeface="Arial"/>
                <a:ea typeface="Arial"/>
                <a:cs typeface="Arial"/>
                <a:sym typeface="Arial"/>
              </a:rPr>
              <a:t> from collected audio files.</a:t>
            </a:r>
            <a:endParaRPr sz="1000"/>
          </a:p>
          <a:p>
            <a:pPr indent="-215900" lvl="0" marL="215900" marR="0" rtl="0" algn="just">
              <a:lnSpc>
                <a:spcPct val="100000"/>
              </a:lnSpc>
              <a:spcBef>
                <a:spcPts val="0"/>
              </a:spcBef>
              <a:spcAft>
                <a:spcPts val="0"/>
              </a:spcAft>
              <a:buClr>
                <a:srgbClr val="0E4094"/>
              </a:buClr>
              <a:buSzPts val="1000"/>
              <a:buFont typeface="Arial"/>
              <a:buChar char="•"/>
            </a:pPr>
            <a:r>
              <a:rPr b="0" i="0" lang="en" sz="1000" u="none" cap="none" strike="noStrike">
                <a:solidFill>
                  <a:srgbClr val="0E4094"/>
                </a:solidFill>
                <a:latin typeface="Arial"/>
                <a:ea typeface="Arial"/>
                <a:cs typeface="Arial"/>
                <a:sym typeface="Arial"/>
              </a:rPr>
              <a:t>Build and train a </a:t>
            </a:r>
            <a:r>
              <a:rPr b="1" i="0" lang="en" sz="1000" u="none" cap="none" strike="noStrike">
                <a:solidFill>
                  <a:srgbClr val="0E4094"/>
                </a:solidFill>
                <a:latin typeface="Arial"/>
                <a:ea typeface="Arial"/>
                <a:cs typeface="Arial"/>
                <a:sym typeface="Arial"/>
              </a:rPr>
              <a:t>binary classifier (Cooking vs Not Cooking)</a:t>
            </a:r>
            <a:r>
              <a:rPr b="0" i="0" lang="en" sz="1000" u="none" cap="none" strike="noStrike">
                <a:solidFill>
                  <a:srgbClr val="0E4094"/>
                </a:solidFill>
                <a:latin typeface="Arial"/>
                <a:ea typeface="Arial"/>
                <a:cs typeface="Arial"/>
                <a:sym typeface="Arial"/>
              </a:rPr>
              <a:t> using extracted embeddings.</a:t>
            </a:r>
            <a:endParaRPr sz="1000"/>
          </a:p>
          <a:p>
            <a:pPr indent="-215900" lvl="0" marL="215900" marR="0" rtl="0" algn="just">
              <a:lnSpc>
                <a:spcPct val="100000"/>
              </a:lnSpc>
              <a:spcBef>
                <a:spcPts val="0"/>
              </a:spcBef>
              <a:spcAft>
                <a:spcPts val="0"/>
              </a:spcAft>
              <a:buClr>
                <a:srgbClr val="0E4094"/>
              </a:buClr>
              <a:buSzPts val="1000"/>
              <a:buFont typeface="Arial"/>
              <a:buChar char="•"/>
            </a:pPr>
            <a:r>
              <a:rPr b="0" i="0" lang="en" sz="1000" u="none" cap="none" strike="noStrike">
                <a:solidFill>
                  <a:srgbClr val="0E4094"/>
                </a:solidFill>
                <a:latin typeface="Arial"/>
                <a:ea typeface="Arial"/>
                <a:cs typeface="Arial"/>
                <a:sym typeface="Arial"/>
              </a:rPr>
              <a:t>Evaluate model performance using </a:t>
            </a:r>
            <a:r>
              <a:rPr b="1" i="0" lang="en" sz="1000" u="none" cap="none" strike="noStrike">
                <a:solidFill>
                  <a:srgbClr val="0E4094"/>
                </a:solidFill>
                <a:latin typeface="Arial"/>
                <a:ea typeface="Arial"/>
                <a:cs typeface="Arial"/>
                <a:sym typeface="Arial"/>
              </a:rPr>
              <a:t>Accuracy, Precision, Recall, and F1 Score</a:t>
            </a:r>
            <a:r>
              <a:rPr b="0" i="0" lang="en" sz="1000" u="none" cap="none" strike="noStrike">
                <a:solidFill>
                  <a:srgbClr val="0E4094"/>
                </a:solidFill>
                <a:latin typeface="Arial"/>
                <a:ea typeface="Arial"/>
                <a:cs typeface="Arial"/>
                <a:sym typeface="Arial"/>
              </a:rPr>
              <a:t>.</a:t>
            </a:r>
            <a:endParaRPr sz="1000"/>
          </a:p>
          <a:p>
            <a:pPr indent="-215900" lvl="0" marL="215900" marR="0" rtl="0" algn="just">
              <a:lnSpc>
                <a:spcPct val="100000"/>
              </a:lnSpc>
              <a:spcBef>
                <a:spcPts val="0"/>
              </a:spcBef>
              <a:spcAft>
                <a:spcPts val="0"/>
              </a:spcAft>
              <a:buClr>
                <a:srgbClr val="0E4094"/>
              </a:buClr>
              <a:buSzPts val="1000"/>
              <a:buFont typeface="Arial"/>
              <a:buChar char="•"/>
            </a:pPr>
            <a:r>
              <a:rPr b="0" i="0" lang="en" sz="1000" u="none" cap="none" strike="noStrike">
                <a:solidFill>
                  <a:srgbClr val="0E4094"/>
                </a:solidFill>
                <a:latin typeface="Arial"/>
                <a:ea typeface="Arial"/>
                <a:cs typeface="Arial"/>
                <a:sym typeface="Arial"/>
              </a:rPr>
              <a:t>Optimize classification performance using additional training data and feature tuning.</a:t>
            </a:r>
            <a:endParaRPr sz="1000"/>
          </a:p>
        </p:txBody>
      </p:sp>
      <p:sp>
        <p:nvSpPr>
          <p:cNvPr id="148" name="Google Shape;148;p25"/>
          <p:cNvSpPr/>
          <p:nvPr/>
        </p:nvSpPr>
        <p:spPr>
          <a:xfrm>
            <a:off x="4635783" y="3445724"/>
            <a:ext cx="4201303" cy="1361911"/>
          </a:xfrm>
          <a:prstGeom prst="rect">
            <a:avLst/>
          </a:prstGeom>
          <a:noFill/>
          <a:ln>
            <a:noFill/>
          </a:ln>
        </p:spPr>
        <p:txBody>
          <a:bodyPr anchorCtr="0" anchor="ctr" bIns="34275" lIns="68575" spcFirstLastPara="1" rIns="68575" wrap="square" tIns="34275">
            <a:noAutofit/>
          </a:bodyPr>
          <a:lstStyle/>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Successfully validated </a:t>
            </a:r>
            <a:r>
              <a:rPr b="1" i="0" lang="en" sz="1050" u="none" cap="none" strike="noStrike">
                <a:solidFill>
                  <a:srgbClr val="0E4094"/>
                </a:solidFill>
                <a:latin typeface="Arial"/>
                <a:ea typeface="Arial"/>
                <a:cs typeface="Arial"/>
                <a:sym typeface="Arial"/>
              </a:rPr>
              <a:t>technical feasibility of using YAMNet for kitchen sound detection</a:t>
            </a:r>
            <a:r>
              <a:rPr b="0" i="0" lang="en" sz="1050" u="none" cap="none" strike="noStrike">
                <a:solidFill>
                  <a:srgbClr val="0E4094"/>
                </a:solidFill>
                <a:latin typeface="Arial"/>
                <a:ea typeface="Arial"/>
                <a:cs typeface="Arial"/>
                <a:sym typeface="Arial"/>
              </a:rPr>
              <a:t>.</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Developed an </a:t>
            </a:r>
            <a:r>
              <a:rPr b="1" i="0" lang="en" sz="1050" u="none" cap="none" strike="noStrike">
                <a:solidFill>
                  <a:srgbClr val="0E4094"/>
                </a:solidFill>
                <a:latin typeface="Arial"/>
                <a:ea typeface="Arial"/>
                <a:cs typeface="Arial"/>
                <a:sym typeface="Arial"/>
              </a:rPr>
              <a:t>end-to-end prototype pipeline</a:t>
            </a:r>
            <a:r>
              <a:rPr b="0" i="0" lang="en" sz="1050" u="none" cap="none" strike="noStrike">
                <a:solidFill>
                  <a:srgbClr val="0E4094"/>
                </a:solidFill>
                <a:latin typeface="Arial"/>
                <a:ea typeface="Arial"/>
                <a:cs typeface="Arial"/>
                <a:sym typeface="Arial"/>
              </a:rPr>
              <a:t> from audio input → feature extraction → event prediction.</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Identified suitable </a:t>
            </a:r>
            <a:r>
              <a:rPr b="1" i="0" lang="en" sz="1050" u="none" cap="none" strike="noStrike">
                <a:solidFill>
                  <a:srgbClr val="0E4094"/>
                </a:solidFill>
                <a:latin typeface="Arial"/>
                <a:ea typeface="Arial"/>
                <a:cs typeface="Arial"/>
                <a:sym typeface="Arial"/>
              </a:rPr>
              <a:t>deep learning architecture using transfer learning with YAMNet embeddings</a:t>
            </a:r>
            <a:r>
              <a:rPr b="0" i="0" lang="en" sz="1050" u="none" cap="none" strike="noStrike">
                <a:solidFill>
                  <a:srgbClr val="0E4094"/>
                </a:solidFill>
                <a:latin typeface="Arial"/>
                <a:ea typeface="Arial"/>
                <a:cs typeface="Arial"/>
                <a:sym typeface="Arial"/>
              </a:rPr>
              <a:t>.</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Established foundation for building a </a:t>
            </a:r>
            <a:r>
              <a:rPr b="1" i="0" lang="en" sz="1050" u="none" cap="none" strike="noStrike">
                <a:solidFill>
                  <a:srgbClr val="0E4094"/>
                </a:solidFill>
                <a:latin typeface="Arial"/>
                <a:ea typeface="Arial"/>
                <a:cs typeface="Arial"/>
                <a:sym typeface="Arial"/>
              </a:rPr>
              <a:t>binary cooking activity detection system</a:t>
            </a:r>
            <a:r>
              <a:rPr b="0" i="0" lang="en" sz="1050" u="none" cap="none" strike="noStrike">
                <a:solidFill>
                  <a:srgbClr val="0E4094"/>
                </a:solidFill>
                <a:latin typeface="Arial"/>
                <a:ea typeface="Arial"/>
                <a:cs typeface="Arial"/>
                <a:sym typeface="Arial"/>
              </a:rPr>
              <a:t>.</a:t>
            </a:r>
            <a:endParaRPr sz="105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p:nvPr/>
        </p:nvSpPr>
        <p:spPr>
          <a:xfrm>
            <a:off x="125446" y="525309"/>
            <a:ext cx="8880380" cy="693105"/>
          </a:xfrm>
          <a:prstGeom prst="rect">
            <a:avLst/>
          </a:prstGeom>
          <a:solidFill>
            <a:srgbClr val="3F3F3F"/>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4" name="Google Shape;154;p26"/>
          <p:cNvSpPr/>
          <p:nvPr/>
        </p:nvSpPr>
        <p:spPr>
          <a:xfrm>
            <a:off x="1" y="78784"/>
            <a:ext cx="126999" cy="361898"/>
          </a:xfrm>
          <a:prstGeom prst="rect">
            <a:avLst/>
          </a:prstGeom>
          <a:solidFill>
            <a:srgbClr val="0E409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5" name="Google Shape;155;p26"/>
          <p:cNvSpPr txBox="1"/>
          <p:nvPr/>
        </p:nvSpPr>
        <p:spPr>
          <a:xfrm>
            <a:off x="286423" y="109691"/>
            <a:ext cx="7517507" cy="300083"/>
          </a:xfrm>
          <a:prstGeom prst="rect">
            <a:avLst/>
          </a:prstGeom>
          <a:noFill/>
          <a:ln>
            <a:noFill/>
          </a:ln>
        </p:spPr>
        <p:txBody>
          <a:bodyPr anchorCtr="0" anchor="ctr"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Arial"/>
                <a:ea typeface="Arial"/>
                <a:cs typeface="Arial"/>
                <a:sym typeface="Arial"/>
              </a:rPr>
              <a:t>Work-let Name: </a:t>
            </a:r>
            <a:r>
              <a:rPr lang="en" sz="1400">
                <a:solidFill>
                  <a:schemeClr val="dk1"/>
                </a:solidFill>
                <a:latin typeface="Calibri"/>
                <a:ea typeface="Calibri"/>
                <a:cs typeface="Calibri"/>
                <a:sym typeface="Calibri"/>
              </a:rPr>
              <a:t>Deep Learning Model to Classify Kitchen Sounds to Cooking</a:t>
            </a:r>
            <a:endParaRPr sz="1500">
              <a:solidFill>
                <a:srgbClr val="7F7F7F"/>
              </a:solidFill>
              <a:latin typeface="Arial"/>
              <a:ea typeface="Arial"/>
              <a:cs typeface="Arial"/>
              <a:sym typeface="Arial"/>
            </a:endParaRPr>
          </a:p>
        </p:txBody>
      </p:sp>
      <p:sp>
        <p:nvSpPr>
          <p:cNvPr id="156" name="Google Shape;156;p26"/>
          <p:cNvSpPr/>
          <p:nvPr/>
        </p:nvSpPr>
        <p:spPr>
          <a:xfrm>
            <a:off x="178475" y="78784"/>
            <a:ext cx="56475" cy="361898"/>
          </a:xfrm>
          <a:prstGeom prst="rect">
            <a:avLst/>
          </a:prstGeom>
          <a:solidFill>
            <a:srgbClr val="BFBFB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7" name="Google Shape;157;p26"/>
          <p:cNvSpPr/>
          <p:nvPr/>
        </p:nvSpPr>
        <p:spPr>
          <a:xfrm>
            <a:off x="129885" y="536750"/>
            <a:ext cx="3208200" cy="276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chemeClr val="accent6"/>
                </a:solidFill>
                <a:latin typeface="Arial"/>
                <a:ea typeface="Arial"/>
                <a:cs typeface="Arial"/>
                <a:sym typeface="Arial"/>
              </a:rPr>
              <a:t>Worklet Details</a:t>
            </a:r>
            <a:endParaRPr sz="1100"/>
          </a:p>
        </p:txBody>
      </p:sp>
      <p:sp>
        <p:nvSpPr>
          <p:cNvPr id="158" name="Google Shape;158;p26"/>
          <p:cNvSpPr/>
          <p:nvPr/>
        </p:nvSpPr>
        <p:spPr>
          <a:xfrm>
            <a:off x="212598" y="832400"/>
            <a:ext cx="3125396" cy="392415"/>
          </a:xfrm>
          <a:prstGeom prst="rect">
            <a:avLst/>
          </a:prstGeom>
          <a:noFill/>
          <a:ln>
            <a:noFill/>
          </a:ln>
        </p:spPr>
        <p:txBody>
          <a:bodyPr anchorCtr="0" anchor="t" bIns="34275" lIns="68575" spcFirstLastPara="1" rIns="68575" wrap="square" tIns="34275">
            <a:noAutofit/>
          </a:bodyPr>
          <a:lstStyle/>
          <a:p>
            <a:pPr indent="-171450" lvl="0" marL="177800" marR="0" rtl="0" algn="l">
              <a:spcBef>
                <a:spcPts val="0"/>
              </a:spcBef>
              <a:spcAft>
                <a:spcPts val="0"/>
              </a:spcAft>
              <a:buClr>
                <a:schemeClr val="lt1"/>
              </a:buClr>
              <a:buSzPts val="900"/>
              <a:buFont typeface="Arial"/>
              <a:buAutoNum type="arabicPeriod"/>
            </a:pPr>
            <a:r>
              <a:rPr lang="en" sz="900">
                <a:solidFill>
                  <a:schemeClr val="lt1"/>
                </a:solidFill>
                <a:latin typeface="Arial"/>
                <a:ea typeface="Arial"/>
                <a:cs typeface="Arial"/>
                <a:sym typeface="Arial"/>
              </a:rPr>
              <a:t>Worklet ID: </a:t>
            </a:r>
            <a:r>
              <a:rPr lang="en" sz="1100">
                <a:solidFill>
                  <a:schemeClr val="lt1"/>
                </a:solidFill>
                <a:latin typeface="Calibri"/>
                <a:ea typeface="Calibri"/>
                <a:cs typeface="Calibri"/>
                <a:sym typeface="Calibri"/>
              </a:rPr>
              <a:t>25ST31BMS</a:t>
            </a:r>
            <a:endParaRPr sz="900">
              <a:solidFill>
                <a:schemeClr val="lt1"/>
              </a:solidFill>
              <a:latin typeface="Arial"/>
              <a:ea typeface="Arial"/>
              <a:cs typeface="Arial"/>
              <a:sym typeface="Arial"/>
            </a:endParaRPr>
          </a:p>
          <a:p>
            <a:pPr indent="-171450" lvl="0" marL="177800" marR="0" rtl="0" algn="l">
              <a:spcBef>
                <a:spcPts val="0"/>
              </a:spcBef>
              <a:spcAft>
                <a:spcPts val="0"/>
              </a:spcAft>
              <a:buClr>
                <a:schemeClr val="lt1"/>
              </a:buClr>
              <a:buSzPts val="900"/>
              <a:buFont typeface="Arial"/>
              <a:buAutoNum type="arabicPeriod"/>
            </a:pPr>
            <a:r>
              <a:rPr lang="en" sz="900">
                <a:solidFill>
                  <a:schemeClr val="lt1"/>
                </a:solidFill>
                <a:latin typeface="Arial"/>
                <a:ea typeface="Arial"/>
                <a:cs typeface="Arial"/>
                <a:sym typeface="Arial"/>
              </a:rPr>
              <a:t>College Name: </a:t>
            </a:r>
            <a:r>
              <a:rPr lang="en" sz="1100">
                <a:solidFill>
                  <a:schemeClr val="lt1"/>
                </a:solidFill>
                <a:latin typeface="Arial"/>
                <a:ea typeface="Arial"/>
                <a:cs typeface="Arial"/>
                <a:sym typeface="Arial"/>
              </a:rPr>
              <a:t>BMS College of Engineering</a:t>
            </a:r>
            <a:endParaRPr sz="900">
              <a:solidFill>
                <a:schemeClr val="lt1"/>
              </a:solidFill>
              <a:latin typeface="Arial"/>
              <a:ea typeface="Arial"/>
              <a:cs typeface="Arial"/>
              <a:sym typeface="Arial"/>
            </a:endParaRPr>
          </a:p>
        </p:txBody>
      </p:sp>
      <p:pic>
        <p:nvPicPr>
          <p:cNvPr id="159" name="Google Shape;159;p26"/>
          <p:cNvPicPr preferRelativeResize="0"/>
          <p:nvPr/>
        </p:nvPicPr>
        <p:blipFill rotWithShape="1">
          <a:blip r:embed="rId3">
            <a:alphaModFix/>
          </a:blip>
          <a:srcRect b="26842" l="4529" r="4175" t="20267"/>
          <a:stretch/>
        </p:blipFill>
        <p:spPr>
          <a:xfrm>
            <a:off x="8206561" y="78784"/>
            <a:ext cx="937438" cy="356183"/>
          </a:xfrm>
          <a:prstGeom prst="rect">
            <a:avLst/>
          </a:prstGeom>
          <a:noFill/>
          <a:ln>
            <a:noFill/>
          </a:ln>
        </p:spPr>
      </p:pic>
      <p:sp>
        <p:nvSpPr>
          <p:cNvPr id="160" name="Google Shape;160;p26"/>
          <p:cNvSpPr/>
          <p:nvPr/>
        </p:nvSpPr>
        <p:spPr>
          <a:xfrm>
            <a:off x="125447" y="3146368"/>
            <a:ext cx="4400834" cy="1360080"/>
          </a:xfrm>
          <a:prstGeom prst="rect">
            <a:avLst/>
          </a:prstGeom>
          <a:solidFill>
            <a:srgbClr val="D8D8D8"/>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1" name="Google Shape;161;p26"/>
          <p:cNvSpPr/>
          <p:nvPr/>
        </p:nvSpPr>
        <p:spPr>
          <a:xfrm>
            <a:off x="125446" y="1527842"/>
            <a:ext cx="4400834" cy="1489943"/>
          </a:xfrm>
          <a:prstGeom prst="rect">
            <a:avLst/>
          </a:prstGeom>
          <a:solidFill>
            <a:srgbClr val="D8D8D8"/>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1" marL="76200" marR="0" rtl="0" algn="l">
              <a:spcBef>
                <a:spcPts val="0"/>
              </a:spcBef>
              <a:spcAft>
                <a:spcPts val="0"/>
              </a:spcAft>
              <a:buNone/>
            </a:pPr>
            <a:r>
              <a:t/>
            </a:r>
            <a:endParaRPr b="1" i="0" sz="900" u="none" cap="none" strike="noStrike">
              <a:solidFill>
                <a:srgbClr val="0E4094"/>
              </a:solidFill>
              <a:latin typeface="Arial"/>
              <a:ea typeface="Arial"/>
              <a:cs typeface="Arial"/>
              <a:sym typeface="Arial"/>
            </a:endParaRPr>
          </a:p>
        </p:txBody>
      </p:sp>
      <p:sp>
        <p:nvSpPr>
          <p:cNvPr id="162" name="Google Shape;162;p26"/>
          <p:cNvSpPr/>
          <p:nvPr/>
        </p:nvSpPr>
        <p:spPr>
          <a:xfrm>
            <a:off x="125447" y="3196577"/>
            <a:ext cx="4400834" cy="64633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0E4094"/>
                </a:solidFill>
                <a:latin typeface="Arial"/>
                <a:ea typeface="Arial"/>
                <a:cs typeface="Arial"/>
                <a:sym typeface="Arial"/>
              </a:rPr>
              <a:t>Any Anticipated Break (Due to exams etc)</a:t>
            </a:r>
            <a:endParaRPr sz="1100"/>
          </a:p>
          <a:p>
            <a:pPr indent="0" lvl="0" marL="0" marR="0" rtl="0" algn="l">
              <a:spcBef>
                <a:spcPts val="0"/>
              </a:spcBef>
              <a:spcAft>
                <a:spcPts val="0"/>
              </a:spcAft>
              <a:buNone/>
            </a:pPr>
            <a:r>
              <a:t/>
            </a:r>
            <a:endParaRPr b="1" sz="1400">
              <a:solidFill>
                <a:srgbClr val="0E4094"/>
              </a:solidFill>
              <a:latin typeface="Arial"/>
              <a:ea typeface="Arial"/>
              <a:cs typeface="Arial"/>
              <a:sym typeface="Arial"/>
            </a:endParaRPr>
          </a:p>
          <a:p>
            <a:pPr indent="0" lvl="0" marL="0" marR="0" rtl="0" algn="l">
              <a:spcBef>
                <a:spcPts val="0"/>
              </a:spcBef>
              <a:spcAft>
                <a:spcPts val="0"/>
              </a:spcAft>
              <a:buNone/>
            </a:pPr>
            <a:r>
              <a:t/>
            </a:r>
            <a:endParaRPr b="1" sz="1100">
              <a:solidFill>
                <a:srgbClr val="0E4094"/>
              </a:solidFill>
              <a:latin typeface="Arial"/>
              <a:ea typeface="Arial"/>
              <a:cs typeface="Arial"/>
              <a:sym typeface="Arial"/>
            </a:endParaRPr>
          </a:p>
        </p:txBody>
      </p:sp>
      <p:sp>
        <p:nvSpPr>
          <p:cNvPr id="163" name="Google Shape;163;p26"/>
          <p:cNvSpPr/>
          <p:nvPr/>
        </p:nvSpPr>
        <p:spPr>
          <a:xfrm>
            <a:off x="199325" y="1582650"/>
            <a:ext cx="4153500" cy="276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0E4094"/>
                </a:solidFill>
                <a:latin typeface="Arial"/>
                <a:ea typeface="Arial"/>
                <a:cs typeface="Arial"/>
                <a:sym typeface="Arial"/>
              </a:rPr>
              <a:t>Resource Requirement Identified with Status</a:t>
            </a:r>
            <a:endParaRPr sz="1100"/>
          </a:p>
        </p:txBody>
      </p:sp>
      <p:sp>
        <p:nvSpPr>
          <p:cNvPr id="164" name="Google Shape;164;p26"/>
          <p:cNvSpPr/>
          <p:nvPr/>
        </p:nvSpPr>
        <p:spPr>
          <a:xfrm>
            <a:off x="4635781" y="3153823"/>
            <a:ext cx="4400700" cy="1348800"/>
          </a:xfrm>
          <a:prstGeom prst="rect">
            <a:avLst/>
          </a:prstGeom>
          <a:solidFill>
            <a:srgbClr val="D8D8D8"/>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5" name="Google Shape;165;p26"/>
          <p:cNvSpPr/>
          <p:nvPr/>
        </p:nvSpPr>
        <p:spPr>
          <a:xfrm>
            <a:off x="4604993" y="3153835"/>
            <a:ext cx="2925000" cy="276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0E4094"/>
                </a:solidFill>
                <a:latin typeface="Arial"/>
                <a:ea typeface="Arial"/>
                <a:cs typeface="Arial"/>
                <a:sym typeface="Arial"/>
              </a:rPr>
              <a:t>Data Collection Information</a:t>
            </a:r>
            <a:endParaRPr sz="1100"/>
          </a:p>
        </p:txBody>
      </p:sp>
      <p:sp>
        <p:nvSpPr>
          <p:cNvPr id="166" name="Google Shape;166;p26"/>
          <p:cNvSpPr/>
          <p:nvPr/>
        </p:nvSpPr>
        <p:spPr>
          <a:xfrm>
            <a:off x="4635783" y="1527842"/>
            <a:ext cx="4400834" cy="1489944"/>
          </a:xfrm>
          <a:prstGeom prst="rect">
            <a:avLst/>
          </a:prstGeom>
          <a:solidFill>
            <a:srgbClr val="D8D8D8"/>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900">
              <a:solidFill>
                <a:srgbClr val="0E4094"/>
              </a:solidFill>
              <a:latin typeface="Arial"/>
              <a:ea typeface="Arial"/>
              <a:cs typeface="Arial"/>
              <a:sym typeface="Arial"/>
            </a:endParaRPr>
          </a:p>
        </p:txBody>
      </p:sp>
      <p:sp>
        <p:nvSpPr>
          <p:cNvPr id="167" name="Google Shape;167;p26"/>
          <p:cNvSpPr/>
          <p:nvPr/>
        </p:nvSpPr>
        <p:spPr>
          <a:xfrm>
            <a:off x="4604993" y="1587219"/>
            <a:ext cx="4244143" cy="27699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0E4094"/>
                </a:solidFill>
                <a:latin typeface="Arial"/>
                <a:ea typeface="Arial"/>
                <a:cs typeface="Arial"/>
                <a:sym typeface="Arial"/>
              </a:rPr>
              <a:t>Github Repository Link and PRISM Portal Registration Status</a:t>
            </a:r>
            <a:endParaRPr sz="1100"/>
          </a:p>
        </p:txBody>
      </p:sp>
      <p:sp>
        <p:nvSpPr>
          <p:cNvPr id="168" name="Google Shape;168;p26"/>
          <p:cNvSpPr txBox="1"/>
          <p:nvPr/>
        </p:nvSpPr>
        <p:spPr>
          <a:xfrm>
            <a:off x="7530084" y="4866894"/>
            <a:ext cx="1614000" cy="284700"/>
          </a:xfrm>
          <a:prstGeom prst="rect">
            <a:avLst/>
          </a:prstGeom>
          <a:noFill/>
          <a:ln>
            <a:noFill/>
          </a:ln>
        </p:spPr>
        <p:txBody>
          <a:bodyPr anchorCtr="0" anchor="ctr"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Date:</a:t>
            </a:r>
            <a:r>
              <a:rPr lang="en">
                <a:solidFill>
                  <a:schemeClr val="dk1"/>
                </a:solidFill>
              </a:rPr>
              <a:t>09/03/2026</a:t>
            </a:r>
            <a:endParaRPr sz="1400">
              <a:solidFill>
                <a:srgbClr val="7F7F7F"/>
              </a:solidFill>
              <a:latin typeface="Arial"/>
              <a:ea typeface="Arial"/>
              <a:cs typeface="Arial"/>
              <a:sym typeface="Arial"/>
            </a:endParaRPr>
          </a:p>
        </p:txBody>
      </p:sp>
      <p:sp>
        <p:nvSpPr>
          <p:cNvPr id="169" name="Google Shape;169;p26"/>
          <p:cNvSpPr/>
          <p:nvPr/>
        </p:nvSpPr>
        <p:spPr>
          <a:xfrm>
            <a:off x="125446" y="1877597"/>
            <a:ext cx="4227285" cy="1038746"/>
          </a:xfrm>
          <a:prstGeom prst="rect">
            <a:avLst/>
          </a:prstGeom>
          <a:noFill/>
          <a:ln>
            <a:noFill/>
          </a:ln>
        </p:spPr>
        <p:txBody>
          <a:bodyPr anchorCtr="0" anchor="ctr" bIns="34275" lIns="68575" spcFirstLastPara="1" rIns="68575" wrap="square" tIns="34275">
            <a:noAutofit/>
          </a:bodyPr>
          <a:lstStyle/>
          <a:p>
            <a:pPr indent="-222250" lvl="0" marL="215900" marR="0" rtl="0" algn="just">
              <a:lnSpc>
                <a:spcPct val="100000"/>
              </a:lnSpc>
              <a:spcBef>
                <a:spcPts val="0"/>
              </a:spcBef>
              <a:spcAft>
                <a:spcPts val="0"/>
              </a:spcAft>
              <a:buClr>
                <a:srgbClr val="0E4094"/>
              </a:buClr>
              <a:buSzPts val="1100"/>
              <a:buFont typeface="Arial"/>
              <a:buChar char="•"/>
            </a:pPr>
            <a:r>
              <a:rPr b="1" i="0" lang="en" sz="1100" u="none" cap="none" strike="noStrike">
                <a:solidFill>
                  <a:srgbClr val="0E4094"/>
                </a:solidFill>
                <a:latin typeface="Arial"/>
                <a:ea typeface="Arial"/>
                <a:cs typeface="Arial"/>
                <a:sym typeface="Arial"/>
              </a:rPr>
              <a:t>Compute:</a:t>
            </a:r>
            <a:r>
              <a:rPr b="0" i="0" lang="en" sz="1100" u="none" cap="none" strike="noStrike">
                <a:solidFill>
                  <a:srgbClr val="0E4094"/>
                </a:solidFill>
                <a:latin typeface="Arial"/>
                <a:ea typeface="Arial"/>
                <a:cs typeface="Arial"/>
                <a:sym typeface="Arial"/>
              </a:rPr>
              <a:t> Google Colab (CPU/GPU) – </a:t>
            </a:r>
            <a:r>
              <a:rPr b="0" i="1" lang="en" sz="1100" u="none" cap="none" strike="noStrike">
                <a:solidFill>
                  <a:srgbClr val="0E4094"/>
                </a:solidFill>
                <a:latin typeface="Arial"/>
                <a:ea typeface="Arial"/>
                <a:cs typeface="Arial"/>
                <a:sym typeface="Arial"/>
              </a:rPr>
              <a:t>Available</a:t>
            </a:r>
            <a:endParaRPr b="0" i="0" sz="1100" u="none" cap="none" strike="noStrike">
              <a:solidFill>
                <a:srgbClr val="0E4094"/>
              </a:solidFill>
              <a:latin typeface="Arial"/>
              <a:ea typeface="Arial"/>
              <a:cs typeface="Arial"/>
              <a:sym typeface="Arial"/>
            </a:endParaRPr>
          </a:p>
          <a:p>
            <a:pPr indent="-222250" lvl="0" marL="215900" marR="0" rtl="0" algn="just">
              <a:lnSpc>
                <a:spcPct val="100000"/>
              </a:lnSpc>
              <a:spcBef>
                <a:spcPts val="0"/>
              </a:spcBef>
              <a:spcAft>
                <a:spcPts val="0"/>
              </a:spcAft>
              <a:buClr>
                <a:srgbClr val="0E4094"/>
              </a:buClr>
              <a:buSzPts val="1100"/>
              <a:buFont typeface="Arial"/>
              <a:buChar char="•"/>
            </a:pPr>
            <a:r>
              <a:rPr b="1" i="0" lang="en" sz="1100" u="none" cap="none" strike="noStrike">
                <a:solidFill>
                  <a:srgbClr val="0E4094"/>
                </a:solidFill>
                <a:latin typeface="Arial"/>
                <a:ea typeface="Arial"/>
                <a:cs typeface="Arial"/>
                <a:sym typeface="Arial"/>
              </a:rPr>
              <a:t>Libraries:</a:t>
            </a:r>
            <a:r>
              <a:rPr b="0" i="0" lang="en" sz="1100" u="none" cap="none" strike="noStrike">
                <a:solidFill>
                  <a:srgbClr val="0E4094"/>
                </a:solidFill>
                <a:latin typeface="Arial"/>
                <a:ea typeface="Arial"/>
                <a:cs typeface="Arial"/>
                <a:sym typeface="Arial"/>
              </a:rPr>
              <a:t> TensorFlow, TensorFlow Hub, Librosa – </a:t>
            </a:r>
            <a:r>
              <a:rPr b="0" i="1" lang="en" sz="1100" u="none" cap="none" strike="noStrike">
                <a:solidFill>
                  <a:srgbClr val="0E4094"/>
                </a:solidFill>
                <a:latin typeface="Arial"/>
                <a:ea typeface="Arial"/>
                <a:cs typeface="Arial"/>
                <a:sym typeface="Arial"/>
              </a:rPr>
              <a:t>Installed</a:t>
            </a:r>
            <a:endParaRPr b="0" i="0" sz="1100" u="none" cap="none" strike="noStrike">
              <a:solidFill>
                <a:srgbClr val="0E4094"/>
              </a:solidFill>
              <a:latin typeface="Arial"/>
              <a:ea typeface="Arial"/>
              <a:cs typeface="Arial"/>
              <a:sym typeface="Arial"/>
            </a:endParaRPr>
          </a:p>
          <a:p>
            <a:pPr indent="-222250" lvl="0" marL="215900" marR="0" rtl="0" algn="just">
              <a:lnSpc>
                <a:spcPct val="100000"/>
              </a:lnSpc>
              <a:spcBef>
                <a:spcPts val="0"/>
              </a:spcBef>
              <a:spcAft>
                <a:spcPts val="0"/>
              </a:spcAft>
              <a:buClr>
                <a:srgbClr val="0E4094"/>
              </a:buClr>
              <a:buSzPts val="1100"/>
              <a:buFont typeface="Arial"/>
              <a:buChar char="•"/>
            </a:pPr>
            <a:r>
              <a:rPr b="1" i="0" lang="en" sz="1100" u="none" cap="none" strike="noStrike">
                <a:solidFill>
                  <a:srgbClr val="0E4094"/>
                </a:solidFill>
                <a:latin typeface="Arial"/>
                <a:ea typeface="Arial"/>
                <a:cs typeface="Arial"/>
                <a:sym typeface="Arial"/>
              </a:rPr>
              <a:t>Model:</a:t>
            </a:r>
            <a:r>
              <a:rPr b="0" i="0" lang="en" sz="1100" u="none" cap="none" strike="noStrike">
                <a:solidFill>
                  <a:srgbClr val="0E4094"/>
                </a:solidFill>
                <a:latin typeface="Arial"/>
                <a:ea typeface="Arial"/>
                <a:cs typeface="Arial"/>
                <a:sym typeface="Arial"/>
              </a:rPr>
              <a:t> Pretrained </a:t>
            </a:r>
            <a:r>
              <a:rPr b="1" i="0" lang="en" sz="1100" u="none" cap="none" strike="noStrike">
                <a:solidFill>
                  <a:srgbClr val="0E4094"/>
                </a:solidFill>
                <a:latin typeface="Arial"/>
                <a:ea typeface="Arial"/>
                <a:cs typeface="Arial"/>
                <a:sym typeface="Arial"/>
              </a:rPr>
              <a:t>YAMNet</a:t>
            </a:r>
            <a:r>
              <a:rPr b="0" i="0" lang="en" sz="1100" u="none" cap="none" strike="noStrike">
                <a:solidFill>
                  <a:srgbClr val="0E4094"/>
                </a:solidFill>
                <a:latin typeface="Arial"/>
                <a:ea typeface="Arial"/>
                <a:cs typeface="Arial"/>
                <a:sym typeface="Arial"/>
              </a:rPr>
              <a:t> – </a:t>
            </a:r>
            <a:r>
              <a:rPr b="0" i="1" lang="en" sz="1100" u="none" cap="none" strike="noStrike">
                <a:solidFill>
                  <a:srgbClr val="0E4094"/>
                </a:solidFill>
                <a:latin typeface="Arial"/>
                <a:ea typeface="Arial"/>
                <a:cs typeface="Arial"/>
                <a:sym typeface="Arial"/>
              </a:rPr>
              <a:t>Integrated for experimentation</a:t>
            </a:r>
            <a:endParaRPr b="0" i="0" sz="1100" u="none" cap="none" strike="noStrike">
              <a:solidFill>
                <a:srgbClr val="0E4094"/>
              </a:solidFill>
              <a:latin typeface="Arial"/>
              <a:ea typeface="Arial"/>
              <a:cs typeface="Arial"/>
              <a:sym typeface="Arial"/>
            </a:endParaRPr>
          </a:p>
          <a:p>
            <a:pPr indent="-222250" lvl="0" marL="215900" marR="0" rtl="0" algn="just">
              <a:lnSpc>
                <a:spcPct val="100000"/>
              </a:lnSpc>
              <a:spcBef>
                <a:spcPts val="0"/>
              </a:spcBef>
              <a:spcAft>
                <a:spcPts val="0"/>
              </a:spcAft>
              <a:buClr>
                <a:srgbClr val="0E4094"/>
              </a:buClr>
              <a:buSzPts val="1100"/>
              <a:buFont typeface="Arial"/>
              <a:buChar char="•"/>
            </a:pPr>
            <a:r>
              <a:rPr b="1" i="0" lang="en" sz="1100" u="none" cap="none" strike="noStrike">
                <a:solidFill>
                  <a:srgbClr val="0E4094"/>
                </a:solidFill>
                <a:latin typeface="Arial"/>
                <a:ea typeface="Arial"/>
                <a:cs typeface="Arial"/>
                <a:sym typeface="Arial"/>
              </a:rPr>
              <a:t>Storage:</a:t>
            </a:r>
            <a:r>
              <a:rPr b="0" i="0" lang="en" sz="1100" u="none" cap="none" strike="noStrike">
                <a:solidFill>
                  <a:srgbClr val="0E4094"/>
                </a:solidFill>
                <a:latin typeface="Arial"/>
                <a:ea typeface="Arial"/>
                <a:cs typeface="Arial"/>
                <a:sym typeface="Arial"/>
              </a:rPr>
              <a:t> Google Drive / Colab storage – </a:t>
            </a:r>
            <a:r>
              <a:rPr b="0" i="1" lang="en" sz="1100" u="none" cap="none" strike="noStrike">
                <a:solidFill>
                  <a:srgbClr val="0E4094"/>
                </a:solidFill>
                <a:latin typeface="Arial"/>
                <a:ea typeface="Arial"/>
                <a:cs typeface="Arial"/>
                <a:sym typeface="Arial"/>
              </a:rPr>
              <a:t>Available</a:t>
            </a:r>
            <a:endParaRPr b="0" i="0" sz="1100" u="none" cap="none" strike="noStrike">
              <a:solidFill>
                <a:srgbClr val="0E4094"/>
              </a:solidFill>
              <a:latin typeface="Arial"/>
              <a:ea typeface="Arial"/>
              <a:cs typeface="Arial"/>
              <a:sym typeface="Arial"/>
            </a:endParaRPr>
          </a:p>
          <a:p>
            <a:pPr indent="-222250" lvl="0" marL="215900" marR="0" rtl="0" algn="just">
              <a:lnSpc>
                <a:spcPct val="100000"/>
              </a:lnSpc>
              <a:spcBef>
                <a:spcPts val="0"/>
              </a:spcBef>
              <a:spcAft>
                <a:spcPts val="0"/>
              </a:spcAft>
              <a:buClr>
                <a:srgbClr val="0E4094"/>
              </a:buClr>
              <a:buSzPts val="1100"/>
              <a:buFont typeface="Arial"/>
              <a:buChar char="•"/>
            </a:pPr>
            <a:r>
              <a:rPr b="1" i="0" lang="en" sz="1100" u="none" cap="none" strike="noStrike">
                <a:solidFill>
                  <a:srgbClr val="0E4094"/>
                </a:solidFill>
                <a:latin typeface="Arial"/>
                <a:ea typeface="Arial"/>
                <a:cs typeface="Arial"/>
                <a:sym typeface="Arial"/>
              </a:rPr>
              <a:t>Dataset:</a:t>
            </a:r>
            <a:r>
              <a:rPr b="0" i="0" lang="en" sz="1100" u="none" cap="none" strike="noStrike">
                <a:solidFill>
                  <a:srgbClr val="0E4094"/>
                </a:solidFill>
                <a:latin typeface="Arial"/>
                <a:ea typeface="Arial"/>
                <a:cs typeface="Arial"/>
                <a:sym typeface="Arial"/>
              </a:rPr>
              <a:t> Freesound audio samples (cooking &amp; non-cooking sounds) – </a:t>
            </a:r>
            <a:r>
              <a:rPr b="0" i="1" lang="en" sz="1100" u="none" cap="none" strike="noStrike">
                <a:solidFill>
                  <a:srgbClr val="0E4094"/>
                </a:solidFill>
                <a:latin typeface="Arial"/>
                <a:ea typeface="Arial"/>
                <a:cs typeface="Arial"/>
                <a:sym typeface="Arial"/>
              </a:rPr>
              <a:t>Collection in progress</a:t>
            </a:r>
            <a:endParaRPr b="0" i="0" sz="1100" u="none" cap="none" strike="noStrike">
              <a:solidFill>
                <a:srgbClr val="0E4094"/>
              </a:solidFill>
              <a:latin typeface="Arial"/>
              <a:ea typeface="Arial"/>
              <a:cs typeface="Arial"/>
              <a:sym typeface="Arial"/>
            </a:endParaRPr>
          </a:p>
        </p:txBody>
      </p:sp>
      <p:sp>
        <p:nvSpPr>
          <p:cNvPr id="170" name="Google Shape;170;p26"/>
          <p:cNvSpPr/>
          <p:nvPr/>
        </p:nvSpPr>
        <p:spPr>
          <a:xfrm>
            <a:off x="4643062" y="1989722"/>
            <a:ext cx="4244100" cy="1038600"/>
          </a:xfrm>
          <a:prstGeom prst="rect">
            <a:avLst/>
          </a:prstGeom>
          <a:noFill/>
          <a:ln>
            <a:noFill/>
          </a:ln>
        </p:spPr>
        <p:txBody>
          <a:bodyPr anchorCtr="0" anchor="ctr" bIns="34275" lIns="68575" spcFirstLastPara="1" rIns="68575" wrap="square" tIns="34275">
            <a:noAutofit/>
          </a:bodyPr>
          <a:lstStyle/>
          <a:p>
            <a:pPr indent="-219075" lvl="0" marL="215900" marR="0" rtl="0" algn="l">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GitHub repository created for project implementation and documentation.</a:t>
            </a:r>
            <a:endParaRPr sz="1050"/>
          </a:p>
          <a:p>
            <a:pPr indent="-219075" lvl="0" marL="215900" marR="0" rtl="0" algn="l">
              <a:spcBef>
                <a:spcPts val="0"/>
              </a:spcBef>
              <a:spcAft>
                <a:spcPts val="0"/>
              </a:spcAft>
              <a:buClr>
                <a:srgbClr val="0E4094"/>
              </a:buClr>
              <a:buSzPts val="1050"/>
              <a:buFont typeface="Arial"/>
              <a:buChar char="•"/>
            </a:pPr>
            <a:r>
              <a:rPr b="1" i="0" lang="en" sz="1050" u="none" cap="none" strike="noStrike">
                <a:solidFill>
                  <a:srgbClr val="0E4094"/>
                </a:solidFill>
                <a:latin typeface="Arial"/>
                <a:ea typeface="Arial"/>
                <a:cs typeface="Arial"/>
                <a:sym typeface="Arial"/>
              </a:rPr>
              <a:t>Repository link</a:t>
            </a:r>
            <a:r>
              <a:rPr b="1" lang="en" sz="1050">
                <a:solidFill>
                  <a:srgbClr val="0E4094"/>
                </a:solidFill>
              </a:rPr>
              <a:t>: </a:t>
            </a:r>
            <a:r>
              <a:rPr lang="en" sz="1050">
                <a:solidFill>
                  <a:srgbClr val="0E4094"/>
                </a:solidFill>
                <a:latin typeface="Arial"/>
                <a:ea typeface="Arial"/>
                <a:cs typeface="Arial"/>
                <a:sym typeface="Arial"/>
              </a:rPr>
              <a:t>https://github.ecodesamsung.com/SRIB-PRISM/25ST31BMS_Deep_Learning_Model_to_Classify_Kitchen_Sounds_to_Cooking</a:t>
            </a:r>
            <a:endParaRPr b="0" i="0" sz="1050" u="none" cap="none" strike="noStrike">
              <a:solidFill>
                <a:srgbClr val="0E4094"/>
              </a:solidFill>
              <a:latin typeface="Arial"/>
              <a:ea typeface="Arial"/>
              <a:cs typeface="Arial"/>
              <a:sym typeface="Arial"/>
            </a:endParaRPr>
          </a:p>
          <a:p>
            <a:pPr indent="-219075" lvl="0" marL="215900" marR="0" rtl="0" algn="l">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PRISM portal project registration </a:t>
            </a:r>
            <a:r>
              <a:rPr b="1" i="0" lang="en" sz="1050" u="none" cap="none" strike="noStrike">
                <a:solidFill>
                  <a:srgbClr val="0E4094"/>
                </a:solidFill>
                <a:latin typeface="Arial"/>
                <a:ea typeface="Arial"/>
                <a:cs typeface="Arial"/>
                <a:sym typeface="Arial"/>
              </a:rPr>
              <a:t>completed.</a:t>
            </a:r>
            <a:endParaRPr sz="1050"/>
          </a:p>
        </p:txBody>
      </p:sp>
      <p:sp>
        <p:nvSpPr>
          <p:cNvPr id="171" name="Google Shape;171;p26"/>
          <p:cNvSpPr/>
          <p:nvPr/>
        </p:nvSpPr>
        <p:spPr>
          <a:xfrm>
            <a:off x="178474" y="3452117"/>
            <a:ext cx="3656549" cy="1038746"/>
          </a:xfrm>
          <a:prstGeom prst="rect">
            <a:avLst/>
          </a:prstGeom>
          <a:noFill/>
          <a:ln>
            <a:noFill/>
          </a:ln>
        </p:spPr>
        <p:txBody>
          <a:bodyPr anchorCtr="0" anchor="ctr" bIns="34275" lIns="68575" spcFirstLastPara="1" rIns="68575" wrap="square" tIns="34275">
            <a:noAutofit/>
          </a:bodyPr>
          <a:lstStyle/>
          <a:p>
            <a:pPr indent="-222250" lvl="0" marL="215900" marR="0" rtl="0" algn="just">
              <a:lnSpc>
                <a:spcPct val="100000"/>
              </a:lnSpc>
              <a:spcBef>
                <a:spcPts val="0"/>
              </a:spcBef>
              <a:spcAft>
                <a:spcPts val="0"/>
              </a:spcAft>
              <a:buClr>
                <a:srgbClr val="0E4094"/>
              </a:buClr>
              <a:buSzPts val="1100"/>
              <a:buFont typeface="Arial"/>
              <a:buChar char="•"/>
            </a:pPr>
            <a:r>
              <a:rPr b="0" i="0" lang="en" sz="1100" u="none" cap="none" strike="noStrike">
                <a:solidFill>
                  <a:srgbClr val="0E4094"/>
                </a:solidFill>
                <a:latin typeface="Arial"/>
                <a:ea typeface="Arial"/>
                <a:cs typeface="Arial"/>
                <a:sym typeface="Arial"/>
              </a:rPr>
              <a:t>Internal academic assessments scheduled from </a:t>
            </a:r>
            <a:r>
              <a:rPr b="1" i="0" lang="en" sz="1100" u="none" cap="none" strike="noStrike">
                <a:solidFill>
                  <a:srgbClr val="0E4094"/>
                </a:solidFill>
                <a:latin typeface="Arial"/>
                <a:ea typeface="Arial"/>
                <a:cs typeface="Arial"/>
                <a:sym typeface="Arial"/>
              </a:rPr>
              <a:t>6th – 8th (next month)</a:t>
            </a:r>
            <a:r>
              <a:rPr b="0" i="0" lang="en" sz="1100" u="none" cap="none" strike="noStrike">
                <a:solidFill>
                  <a:srgbClr val="0E4094"/>
                </a:solidFill>
                <a:latin typeface="Arial"/>
                <a:ea typeface="Arial"/>
                <a:cs typeface="Arial"/>
                <a:sym typeface="Arial"/>
              </a:rPr>
              <a:t>.</a:t>
            </a:r>
            <a:endParaRPr sz="1100"/>
          </a:p>
          <a:p>
            <a:pPr indent="-222250" lvl="0" marL="215900" marR="0" rtl="0" algn="just">
              <a:lnSpc>
                <a:spcPct val="100000"/>
              </a:lnSpc>
              <a:spcBef>
                <a:spcPts val="0"/>
              </a:spcBef>
              <a:spcAft>
                <a:spcPts val="0"/>
              </a:spcAft>
              <a:buClr>
                <a:srgbClr val="0E4094"/>
              </a:buClr>
              <a:buSzPts val="1100"/>
              <a:buFont typeface="Arial"/>
              <a:buChar char="•"/>
            </a:pPr>
            <a:r>
              <a:rPr b="0" i="0" lang="en" sz="1100" u="none" cap="none" strike="noStrike">
                <a:solidFill>
                  <a:srgbClr val="0E4094"/>
                </a:solidFill>
                <a:latin typeface="Arial"/>
                <a:ea typeface="Arial"/>
                <a:cs typeface="Arial"/>
                <a:sym typeface="Arial"/>
              </a:rPr>
              <a:t>Project progress may be slightly slower during this period due to examinations.</a:t>
            </a:r>
            <a:endParaRPr sz="1100"/>
          </a:p>
          <a:p>
            <a:pPr indent="-222250" lvl="0" marL="215900" marR="0" rtl="0" algn="just">
              <a:lnSpc>
                <a:spcPct val="100000"/>
              </a:lnSpc>
              <a:spcBef>
                <a:spcPts val="0"/>
              </a:spcBef>
              <a:spcAft>
                <a:spcPts val="0"/>
              </a:spcAft>
              <a:buClr>
                <a:srgbClr val="0E4094"/>
              </a:buClr>
              <a:buSzPts val="1100"/>
              <a:buFont typeface="Arial"/>
              <a:buChar char="•"/>
            </a:pPr>
            <a:r>
              <a:rPr b="0" i="0" lang="en" sz="1100" u="none" cap="none" strike="noStrike">
                <a:solidFill>
                  <a:srgbClr val="0E4094"/>
                </a:solidFill>
                <a:latin typeface="Arial"/>
                <a:ea typeface="Arial"/>
                <a:cs typeface="Arial"/>
                <a:sym typeface="Arial"/>
              </a:rPr>
              <a:t>Normal development activities will resume immediately after the exam period.</a:t>
            </a:r>
            <a:endParaRPr sz="1100"/>
          </a:p>
        </p:txBody>
      </p:sp>
      <p:sp>
        <p:nvSpPr>
          <p:cNvPr id="172" name="Google Shape;172;p26"/>
          <p:cNvSpPr/>
          <p:nvPr/>
        </p:nvSpPr>
        <p:spPr>
          <a:xfrm>
            <a:off x="4564692" y="3449948"/>
            <a:ext cx="4400834" cy="1038746"/>
          </a:xfrm>
          <a:prstGeom prst="rect">
            <a:avLst/>
          </a:prstGeom>
          <a:noFill/>
          <a:ln>
            <a:noFill/>
          </a:ln>
        </p:spPr>
        <p:txBody>
          <a:bodyPr anchorCtr="0" anchor="ctr" bIns="34275" lIns="68575" spcFirstLastPara="1" rIns="68575" wrap="square" tIns="34275">
            <a:noAutofit/>
          </a:bodyPr>
          <a:lstStyle/>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Dataset being collected from </a:t>
            </a:r>
            <a:r>
              <a:rPr b="1" i="0" lang="en" sz="1050" u="none" cap="none" strike="noStrike">
                <a:solidFill>
                  <a:srgbClr val="0E4094"/>
                </a:solidFill>
                <a:latin typeface="Arial"/>
                <a:ea typeface="Arial"/>
                <a:cs typeface="Arial"/>
                <a:sym typeface="Arial"/>
              </a:rPr>
              <a:t>open-source audio repositories (Freesound)</a:t>
            </a:r>
            <a:r>
              <a:rPr b="0" i="0" lang="en" sz="1050" u="none" cap="none" strike="noStrike">
                <a:solidFill>
                  <a:srgbClr val="0E4094"/>
                </a:solidFill>
                <a:latin typeface="Arial"/>
                <a:ea typeface="Arial"/>
                <a:cs typeface="Arial"/>
                <a:sym typeface="Arial"/>
              </a:rPr>
              <a:t>.</a:t>
            </a:r>
            <a:endParaRPr sz="1050"/>
          </a:p>
          <a:p>
            <a:pPr indent="-219075" lvl="0" marL="215900" marR="0" rtl="0" algn="just">
              <a:spcBef>
                <a:spcPts val="0"/>
              </a:spcBef>
              <a:spcAft>
                <a:spcPts val="0"/>
              </a:spcAft>
              <a:buClr>
                <a:srgbClr val="0E4094"/>
              </a:buClr>
              <a:buSzPts val="1050"/>
              <a:buFont typeface="Arial"/>
              <a:buChar char="•"/>
            </a:pPr>
            <a:r>
              <a:rPr b="1" lang="en" sz="1050">
                <a:solidFill>
                  <a:srgbClr val="0E4094"/>
                </a:solidFill>
                <a:latin typeface="Arial"/>
                <a:ea typeface="Arial"/>
                <a:cs typeface="Arial"/>
                <a:sym typeface="Arial"/>
              </a:rPr>
              <a:t>Dataset link</a:t>
            </a:r>
            <a:r>
              <a:rPr lang="en" sz="1050">
                <a:solidFill>
                  <a:srgbClr val="0E4094"/>
                </a:solidFill>
                <a:latin typeface="Arial"/>
                <a:ea typeface="Arial"/>
                <a:cs typeface="Arial"/>
                <a:sym typeface="Arial"/>
              </a:rPr>
              <a:t>: https://freesound.org/</a:t>
            </a:r>
            <a:endParaRPr b="0" i="0" sz="1050" u="none" cap="none" strike="noStrike">
              <a:solidFill>
                <a:srgbClr val="0E4094"/>
              </a:solidFill>
              <a:latin typeface="Arial"/>
              <a:ea typeface="Arial"/>
              <a:cs typeface="Arial"/>
              <a:sym typeface="Arial"/>
            </a:endParaRPr>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Audio clips include </a:t>
            </a:r>
            <a:r>
              <a:rPr b="1" i="0" lang="en" sz="1050" u="none" cap="none" strike="noStrike">
                <a:solidFill>
                  <a:srgbClr val="0E4094"/>
                </a:solidFill>
                <a:latin typeface="Arial"/>
                <a:ea typeface="Arial"/>
                <a:cs typeface="Arial"/>
                <a:sym typeface="Arial"/>
              </a:rPr>
              <a:t>cooking sounds (frying, boiling, chopping, dishes)</a:t>
            </a:r>
            <a:r>
              <a:rPr b="0" i="0" lang="en" sz="1050" u="none" cap="none" strike="noStrike">
                <a:solidFill>
                  <a:srgbClr val="0E4094"/>
                </a:solidFill>
                <a:latin typeface="Arial"/>
                <a:ea typeface="Arial"/>
                <a:cs typeface="Arial"/>
                <a:sym typeface="Arial"/>
              </a:rPr>
              <a:t> and </a:t>
            </a:r>
            <a:r>
              <a:rPr b="1" i="0" lang="en" sz="1050" u="none" cap="none" strike="noStrike">
                <a:solidFill>
                  <a:srgbClr val="0E4094"/>
                </a:solidFill>
                <a:latin typeface="Arial"/>
                <a:ea typeface="Arial"/>
                <a:cs typeface="Arial"/>
                <a:sym typeface="Arial"/>
              </a:rPr>
              <a:t>non-cooking environmental sounds</a:t>
            </a:r>
            <a:r>
              <a:rPr b="0" i="0" lang="en" sz="1050" u="none" cap="none" strike="noStrike">
                <a:solidFill>
                  <a:srgbClr val="0E4094"/>
                </a:solidFill>
                <a:latin typeface="Arial"/>
                <a:ea typeface="Arial"/>
                <a:cs typeface="Arial"/>
                <a:sym typeface="Arial"/>
              </a:rPr>
              <a:t>.</a:t>
            </a:r>
            <a:endParaRPr sz="1050"/>
          </a:p>
          <a:p>
            <a:pPr indent="-219075" lvl="0" marL="215900" marR="0" rtl="0" algn="just">
              <a:lnSpc>
                <a:spcPct val="100000"/>
              </a:lnSpc>
              <a:spcBef>
                <a:spcPts val="0"/>
              </a:spcBef>
              <a:spcAft>
                <a:spcPts val="0"/>
              </a:spcAft>
              <a:buClr>
                <a:srgbClr val="0E4094"/>
              </a:buClr>
              <a:buSzPts val="1050"/>
              <a:buFont typeface="Arial"/>
              <a:buChar char="•"/>
            </a:pPr>
            <a:r>
              <a:rPr b="0" i="0" lang="en" sz="1050" u="none" cap="none" strike="noStrike">
                <a:solidFill>
                  <a:srgbClr val="0E4094"/>
                </a:solidFill>
                <a:latin typeface="Arial"/>
                <a:ea typeface="Arial"/>
                <a:cs typeface="Arial"/>
                <a:sym typeface="Arial"/>
              </a:rPr>
              <a:t>Additional dataset sources under exploration for expanding the training set.</a:t>
            </a:r>
            <a:endParaRPr sz="105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p:nvPr/>
        </p:nvSpPr>
        <p:spPr>
          <a:xfrm>
            <a:off x="125446" y="525309"/>
            <a:ext cx="8880380" cy="693105"/>
          </a:xfrm>
          <a:prstGeom prst="rect">
            <a:avLst/>
          </a:prstGeom>
          <a:solidFill>
            <a:srgbClr val="3F3F3F"/>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8" name="Google Shape;178;p27"/>
          <p:cNvSpPr/>
          <p:nvPr/>
        </p:nvSpPr>
        <p:spPr>
          <a:xfrm>
            <a:off x="1" y="78784"/>
            <a:ext cx="126999" cy="361898"/>
          </a:xfrm>
          <a:prstGeom prst="rect">
            <a:avLst/>
          </a:prstGeom>
          <a:solidFill>
            <a:srgbClr val="0E409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9" name="Google Shape;179;p27"/>
          <p:cNvSpPr txBox="1"/>
          <p:nvPr/>
        </p:nvSpPr>
        <p:spPr>
          <a:xfrm>
            <a:off x="286423" y="109691"/>
            <a:ext cx="7517507" cy="300083"/>
          </a:xfrm>
          <a:prstGeom prst="rect">
            <a:avLst/>
          </a:prstGeom>
          <a:noFill/>
          <a:ln>
            <a:noFill/>
          </a:ln>
        </p:spPr>
        <p:txBody>
          <a:bodyPr anchorCtr="0" anchor="ctr"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Arial"/>
                <a:ea typeface="Arial"/>
                <a:cs typeface="Arial"/>
                <a:sym typeface="Arial"/>
              </a:rPr>
              <a:t>Work-let Name: </a:t>
            </a:r>
            <a:r>
              <a:rPr lang="en" sz="1400">
                <a:solidFill>
                  <a:schemeClr val="dk1"/>
                </a:solidFill>
                <a:latin typeface="Calibri"/>
                <a:ea typeface="Calibri"/>
                <a:cs typeface="Calibri"/>
                <a:sym typeface="Calibri"/>
              </a:rPr>
              <a:t>Deep Learning Model to Classify Kitchen Sounds to Cooking</a:t>
            </a:r>
            <a:endParaRPr sz="1500">
              <a:solidFill>
                <a:srgbClr val="7F7F7F"/>
              </a:solidFill>
              <a:latin typeface="Arial"/>
              <a:ea typeface="Arial"/>
              <a:cs typeface="Arial"/>
              <a:sym typeface="Arial"/>
            </a:endParaRPr>
          </a:p>
        </p:txBody>
      </p:sp>
      <p:sp>
        <p:nvSpPr>
          <p:cNvPr id="180" name="Google Shape;180;p27"/>
          <p:cNvSpPr/>
          <p:nvPr/>
        </p:nvSpPr>
        <p:spPr>
          <a:xfrm>
            <a:off x="178475" y="78784"/>
            <a:ext cx="56475" cy="361898"/>
          </a:xfrm>
          <a:prstGeom prst="rect">
            <a:avLst/>
          </a:prstGeom>
          <a:solidFill>
            <a:srgbClr val="BFBFB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1" name="Google Shape;181;p27"/>
          <p:cNvSpPr/>
          <p:nvPr/>
        </p:nvSpPr>
        <p:spPr>
          <a:xfrm>
            <a:off x="129889" y="536750"/>
            <a:ext cx="3891000" cy="276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chemeClr val="accent6"/>
                </a:solidFill>
                <a:latin typeface="Arial"/>
                <a:ea typeface="Arial"/>
                <a:cs typeface="Arial"/>
                <a:sym typeface="Arial"/>
              </a:rPr>
              <a:t>Worklet Details</a:t>
            </a:r>
            <a:endParaRPr sz="1100"/>
          </a:p>
        </p:txBody>
      </p:sp>
      <p:sp>
        <p:nvSpPr>
          <p:cNvPr id="182" name="Google Shape;182;p27"/>
          <p:cNvSpPr/>
          <p:nvPr/>
        </p:nvSpPr>
        <p:spPr>
          <a:xfrm>
            <a:off x="212598" y="832400"/>
            <a:ext cx="3125396" cy="392415"/>
          </a:xfrm>
          <a:prstGeom prst="rect">
            <a:avLst/>
          </a:prstGeom>
          <a:noFill/>
          <a:ln>
            <a:noFill/>
          </a:ln>
        </p:spPr>
        <p:txBody>
          <a:bodyPr anchorCtr="0" anchor="t" bIns="34275" lIns="68575" spcFirstLastPara="1" rIns="68575" wrap="square" tIns="34275">
            <a:noAutofit/>
          </a:bodyPr>
          <a:lstStyle/>
          <a:p>
            <a:pPr indent="-171450" lvl="0" marL="177800" marR="0" rtl="0" algn="l">
              <a:spcBef>
                <a:spcPts val="0"/>
              </a:spcBef>
              <a:spcAft>
                <a:spcPts val="0"/>
              </a:spcAft>
              <a:buClr>
                <a:schemeClr val="lt1"/>
              </a:buClr>
              <a:buSzPts val="900"/>
              <a:buFont typeface="Arial"/>
              <a:buAutoNum type="arabicPeriod"/>
            </a:pPr>
            <a:r>
              <a:rPr lang="en" sz="900">
                <a:solidFill>
                  <a:schemeClr val="lt1"/>
                </a:solidFill>
                <a:latin typeface="Arial"/>
                <a:ea typeface="Arial"/>
                <a:cs typeface="Arial"/>
                <a:sym typeface="Arial"/>
              </a:rPr>
              <a:t>Worklet ID: </a:t>
            </a:r>
            <a:r>
              <a:rPr lang="en" sz="1100">
                <a:solidFill>
                  <a:schemeClr val="lt1"/>
                </a:solidFill>
                <a:latin typeface="Calibri"/>
                <a:ea typeface="Calibri"/>
                <a:cs typeface="Calibri"/>
                <a:sym typeface="Calibri"/>
              </a:rPr>
              <a:t>25ST31BMS</a:t>
            </a:r>
            <a:endParaRPr sz="900">
              <a:solidFill>
                <a:schemeClr val="lt1"/>
              </a:solidFill>
              <a:latin typeface="Arial"/>
              <a:ea typeface="Arial"/>
              <a:cs typeface="Arial"/>
              <a:sym typeface="Arial"/>
            </a:endParaRPr>
          </a:p>
          <a:p>
            <a:pPr indent="-171450" lvl="0" marL="177800" marR="0" rtl="0" algn="l">
              <a:spcBef>
                <a:spcPts val="0"/>
              </a:spcBef>
              <a:spcAft>
                <a:spcPts val="0"/>
              </a:spcAft>
              <a:buClr>
                <a:schemeClr val="lt1"/>
              </a:buClr>
              <a:buSzPts val="900"/>
              <a:buFont typeface="Arial"/>
              <a:buAutoNum type="arabicPeriod"/>
            </a:pPr>
            <a:r>
              <a:rPr lang="en" sz="900">
                <a:solidFill>
                  <a:schemeClr val="lt1"/>
                </a:solidFill>
                <a:latin typeface="Arial"/>
                <a:ea typeface="Arial"/>
                <a:cs typeface="Arial"/>
                <a:sym typeface="Arial"/>
              </a:rPr>
              <a:t>College Name: </a:t>
            </a:r>
            <a:r>
              <a:rPr lang="en" sz="1100">
                <a:solidFill>
                  <a:schemeClr val="lt1"/>
                </a:solidFill>
                <a:latin typeface="Arial"/>
                <a:ea typeface="Arial"/>
                <a:cs typeface="Arial"/>
                <a:sym typeface="Arial"/>
              </a:rPr>
              <a:t>BMS College of Engineering</a:t>
            </a:r>
            <a:endParaRPr sz="900">
              <a:solidFill>
                <a:schemeClr val="lt1"/>
              </a:solidFill>
              <a:latin typeface="Arial"/>
              <a:ea typeface="Arial"/>
              <a:cs typeface="Arial"/>
              <a:sym typeface="Arial"/>
            </a:endParaRPr>
          </a:p>
        </p:txBody>
      </p:sp>
      <p:pic>
        <p:nvPicPr>
          <p:cNvPr id="183" name="Google Shape;183;p27"/>
          <p:cNvPicPr preferRelativeResize="0"/>
          <p:nvPr/>
        </p:nvPicPr>
        <p:blipFill rotWithShape="1">
          <a:blip r:embed="rId3">
            <a:alphaModFix/>
          </a:blip>
          <a:srcRect b="26842" l="4529" r="4175" t="20267"/>
          <a:stretch/>
        </p:blipFill>
        <p:spPr>
          <a:xfrm>
            <a:off x="8206561" y="78784"/>
            <a:ext cx="937438" cy="356183"/>
          </a:xfrm>
          <a:prstGeom prst="rect">
            <a:avLst/>
          </a:prstGeom>
          <a:noFill/>
          <a:ln>
            <a:noFill/>
          </a:ln>
        </p:spPr>
      </p:pic>
      <p:sp>
        <p:nvSpPr>
          <p:cNvPr id="184" name="Google Shape;184;p27"/>
          <p:cNvSpPr/>
          <p:nvPr/>
        </p:nvSpPr>
        <p:spPr>
          <a:xfrm>
            <a:off x="125446" y="1527842"/>
            <a:ext cx="8880380" cy="1512098"/>
          </a:xfrm>
          <a:prstGeom prst="rect">
            <a:avLst/>
          </a:prstGeom>
          <a:solidFill>
            <a:srgbClr val="D8D8D8"/>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1" marL="76200" marR="0" rtl="0" algn="l">
              <a:spcBef>
                <a:spcPts val="0"/>
              </a:spcBef>
              <a:spcAft>
                <a:spcPts val="0"/>
              </a:spcAft>
              <a:buNone/>
            </a:pPr>
            <a:r>
              <a:rPr b="1" i="0" lang="en" sz="1100" u="none" cap="none" strike="noStrike">
                <a:solidFill>
                  <a:srgbClr val="0E4094"/>
                </a:solidFill>
                <a:latin typeface="Arial"/>
                <a:ea typeface="Arial"/>
                <a:cs typeface="Arial"/>
                <a:sym typeface="Arial"/>
              </a:rPr>
              <a:t>Status and future plan - </a:t>
            </a:r>
            <a:r>
              <a:rPr b="1" lang="en" sz="1100">
                <a:solidFill>
                  <a:srgbClr val="0E4094"/>
                </a:solidFill>
              </a:rPr>
              <a:t>Identified suitable deep learning models and dataset is identified</a:t>
            </a:r>
            <a:endParaRPr sz="1300"/>
          </a:p>
          <a:p>
            <a:pPr indent="0" lvl="1" marL="76200" marR="0" rtl="0" algn="l">
              <a:spcBef>
                <a:spcPts val="0"/>
              </a:spcBef>
              <a:spcAft>
                <a:spcPts val="0"/>
              </a:spcAft>
              <a:buNone/>
            </a:pPr>
            <a:r>
              <a:rPr b="1" i="0" lang="en" sz="1100" u="none" cap="none" strike="noStrike">
                <a:solidFill>
                  <a:srgbClr val="0E4094"/>
                </a:solidFill>
                <a:latin typeface="Arial"/>
                <a:ea typeface="Arial"/>
                <a:cs typeface="Arial"/>
                <a:sym typeface="Arial"/>
              </a:rPr>
              <a:t>Latest Literature Review - “Examining Recognition of Occupants’ Cooking Activity Based on Sound Data Using Deep Learning Models”, </a:t>
            </a:r>
            <a:r>
              <a:rPr b="1" lang="en" sz="1100">
                <a:solidFill>
                  <a:srgbClr val="0E4094"/>
                </a:solidFill>
              </a:rPr>
              <a:t>“A Comparative Study in Machine Learning and Audio Features for Kitchen Sounds Recognition”</a:t>
            </a:r>
            <a:endParaRPr b="1" sz="1100">
              <a:solidFill>
                <a:srgbClr val="0E4094"/>
              </a:solidFill>
            </a:endParaRPr>
          </a:p>
          <a:p>
            <a:pPr indent="0" lvl="1" marL="76200" marR="0" rtl="0" algn="l">
              <a:spcBef>
                <a:spcPts val="0"/>
              </a:spcBef>
              <a:spcAft>
                <a:spcPts val="0"/>
              </a:spcAft>
              <a:buNone/>
            </a:pPr>
            <a:r>
              <a:rPr b="1" i="0" lang="en" sz="1100" u="none" cap="none" strike="noStrike">
                <a:solidFill>
                  <a:srgbClr val="0E4094"/>
                </a:solidFill>
                <a:latin typeface="Arial"/>
                <a:ea typeface="Arial"/>
                <a:cs typeface="Arial"/>
                <a:sym typeface="Arial"/>
              </a:rPr>
              <a:t>Expert Insights </a:t>
            </a:r>
            <a:r>
              <a:rPr b="1" lang="en" sz="1100">
                <a:solidFill>
                  <a:srgbClr val="0E4094"/>
                </a:solidFill>
              </a:rPr>
              <a:t>- Mel-spectrogram or MFCC features—are highly effective for identifying cooking sounds, as they can capture both spectral and temporal patterns in kitchen audio, although performance is often limited by noisy environments and the scarcity of large labeled cooking sound datasets.</a:t>
            </a:r>
            <a:endParaRPr sz="1300"/>
          </a:p>
        </p:txBody>
      </p:sp>
      <p:sp>
        <p:nvSpPr>
          <p:cNvPr id="185" name="Google Shape;185;p27"/>
          <p:cNvSpPr/>
          <p:nvPr/>
        </p:nvSpPr>
        <p:spPr>
          <a:xfrm>
            <a:off x="178475" y="1243575"/>
            <a:ext cx="8007300" cy="276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0E4094"/>
                </a:solidFill>
                <a:latin typeface="Arial"/>
                <a:ea typeface="Arial"/>
                <a:cs typeface="Arial"/>
                <a:sym typeface="Arial"/>
              </a:rPr>
              <a:t>Professor Comments (To be filled in and presented by professor (Either)</a:t>
            </a:r>
            <a:endParaRPr b="1" sz="1400">
              <a:solidFill>
                <a:srgbClr val="0E4094"/>
              </a:solidFill>
              <a:latin typeface="Arial"/>
              <a:ea typeface="Arial"/>
              <a:cs typeface="Arial"/>
              <a:sym typeface="Arial"/>
            </a:endParaRPr>
          </a:p>
        </p:txBody>
      </p:sp>
      <p:sp>
        <p:nvSpPr>
          <p:cNvPr id="186" name="Google Shape;186;p27"/>
          <p:cNvSpPr txBox="1"/>
          <p:nvPr/>
        </p:nvSpPr>
        <p:spPr>
          <a:xfrm>
            <a:off x="7530084" y="4866894"/>
            <a:ext cx="1614000" cy="284700"/>
          </a:xfrm>
          <a:prstGeom prst="rect">
            <a:avLst/>
          </a:prstGeom>
          <a:noFill/>
          <a:ln>
            <a:noFill/>
          </a:ln>
        </p:spPr>
        <p:txBody>
          <a:bodyPr anchorCtr="0" anchor="ctr"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Date:</a:t>
            </a:r>
            <a:r>
              <a:rPr lang="en">
                <a:solidFill>
                  <a:schemeClr val="dk1"/>
                </a:solidFill>
              </a:rPr>
              <a:t>09/03/2026</a:t>
            </a:r>
            <a:endParaRPr sz="1400">
              <a:solidFill>
                <a:srgbClr val="7F7F7F"/>
              </a:solidFill>
              <a:latin typeface="Arial"/>
              <a:ea typeface="Arial"/>
              <a:cs typeface="Arial"/>
              <a:sym typeface="Arial"/>
            </a:endParaRPr>
          </a:p>
        </p:txBody>
      </p:sp>
      <p:sp>
        <p:nvSpPr>
          <p:cNvPr id="187" name="Google Shape;187;p27"/>
          <p:cNvSpPr/>
          <p:nvPr/>
        </p:nvSpPr>
        <p:spPr>
          <a:xfrm>
            <a:off x="125445" y="3129316"/>
            <a:ext cx="8880380" cy="1697812"/>
          </a:xfrm>
          <a:prstGeom prst="rect">
            <a:avLst/>
          </a:prstGeom>
          <a:solidFill>
            <a:srgbClr val="D8D8D8"/>
          </a:solidFill>
          <a:ln>
            <a:noFill/>
          </a:ln>
          <a:effectLst>
            <a:outerShdw blurRad="50800" rotWithShape="0" algn="tr" dir="8100000" dist="38100">
              <a:srgbClr val="000000">
                <a:alpha val="40000"/>
              </a:srgbClr>
            </a:outerShdw>
          </a:effectLst>
        </p:spPr>
        <p:txBody>
          <a:bodyPr anchorCtr="0" anchor="ctr" bIns="34275" lIns="68575" spcFirstLastPara="1" rIns="68575" wrap="square" tIns="34275">
            <a:noAutofit/>
          </a:bodyPr>
          <a:lstStyle/>
          <a:p>
            <a:pPr indent="0" lvl="1" marL="76200" marR="0" rtl="0" algn="l">
              <a:spcBef>
                <a:spcPts val="0"/>
              </a:spcBef>
              <a:spcAft>
                <a:spcPts val="0"/>
              </a:spcAft>
              <a:buNone/>
            </a:pPr>
            <a:r>
              <a:t/>
            </a:r>
            <a:endParaRPr b="1" i="0" sz="900" u="none" cap="none" strike="noStrike">
              <a:solidFill>
                <a:srgbClr val="0E4094"/>
              </a:solidFill>
              <a:latin typeface="Arial"/>
              <a:ea typeface="Arial"/>
              <a:cs typeface="Arial"/>
              <a:sym typeface="Arial"/>
            </a:endParaRPr>
          </a:p>
        </p:txBody>
      </p:sp>
      <p:sp>
        <p:nvSpPr>
          <p:cNvPr id="188" name="Google Shape;188;p27"/>
          <p:cNvSpPr/>
          <p:nvPr/>
        </p:nvSpPr>
        <p:spPr>
          <a:xfrm>
            <a:off x="169530" y="3214600"/>
            <a:ext cx="4477200" cy="276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400">
                <a:solidFill>
                  <a:srgbClr val="0E4094"/>
                </a:solidFill>
                <a:latin typeface="Arial"/>
                <a:ea typeface="Arial"/>
                <a:cs typeface="Arial"/>
                <a:sym typeface="Arial"/>
              </a:rPr>
              <a:t>COMPUTATION RESOURCE Details:</a:t>
            </a:r>
            <a:endParaRPr sz="1100"/>
          </a:p>
        </p:txBody>
      </p:sp>
      <p:sp>
        <p:nvSpPr>
          <p:cNvPr id="189" name="Google Shape;189;p27"/>
          <p:cNvSpPr/>
          <p:nvPr/>
        </p:nvSpPr>
        <p:spPr>
          <a:xfrm>
            <a:off x="178476" y="3526281"/>
            <a:ext cx="8673000" cy="1152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300">
                <a:solidFill>
                  <a:srgbClr val="0E4094"/>
                </a:solidFill>
                <a:latin typeface="Arial"/>
                <a:ea typeface="Arial"/>
                <a:cs typeface="Arial"/>
                <a:sym typeface="Arial"/>
              </a:rPr>
              <a:t>GPU from College lab - The computational experiments for the proposed work will be carried out using the available GPU-enabled computing facility in the department. The system supports accelerated training of deep learning models and large-scale data processing required for the research.</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